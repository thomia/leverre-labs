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 autonome : il ne dépend pas de l'application. Chaque participant</a:t>
            </a:r>
          </a:p>
          <a:p>
            <a:r>
              <a:t>construit son verre sur la fiche papier distribuée en phase 1.</a:t>
            </a:r>
          </a:p>
          <a:p>
            <a:r>
              <a:t>Prévoir : fiches imprimées (une par participant), stylos, un paperboard.</a:t>
            </a:r>
          </a:p>
          <a:p>
            <a:r>
              <a:t>Vérifier avant la session que le vidéoprojecteur affiche bien le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Objectif de la phase : faire exister le risque dans la salle avant</a:t>
            </a:r>
          </a:p>
          <a:p>
            <a:r>
              <a:t>d'introduire le moindre concept. Ne pas démarrer par le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Levez la main vous-même en posant la question. Dans la quasi-totalité des</a:t>
            </a:r>
          </a:p>
          <a:p>
            <a:r>
              <a:t>groupes, toutes les mains se lèvent. Laissez ce moment exister une seconde,</a:t>
            </a:r>
          </a:p>
          <a:p>
            <a:r>
              <a:t>sans commenter tout de suite : c'est la prise de conscience que le risque</a:t>
            </a:r>
          </a:p>
          <a:p>
            <a:r>
              <a:t>n'est pas théorique, il est déjà vécu par tout le monde dans la salle.</a:t>
            </a:r>
          </a:p>
          <a:p/>
          <a:p>
            <a:r>
              <a:t>Enchaînez : « On se comporte très différemment face à un risque quand on</a:t>
            </a:r>
          </a:p>
          <a:p>
            <a:r>
              <a:t>a compris ce qu'il fait à notre corps. En général, on comprend quand on y</a:t>
            </a:r>
          </a:p>
          <a:p>
            <a:r>
              <a:t>a été confronté. Aujourd'hui, l'idée c'est de ne pas attendre.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Ton factuel, sans dramatiser ni minimiser. Après « un accident sur deux »,</a:t>
            </a:r>
          </a:p>
          <a:p>
            <a:r>
              <a:t>marquez une pause et laissez le chiffre exister.</a:t>
            </a:r>
          </a:p>
          <a:p/>
          <a:p>
            <a:r>
              <a:t>Puis : « Ce qui est troublant, ce n'est pas le chiffre, c'est sa stabilité.</a:t>
            </a:r>
          </a:p>
          <a:p>
            <a:r>
              <a:t>Ces données sont les mêmes depuis vingt ans. On a formé, on a acheté du</a:t>
            </a:r>
          </a:p>
          <a:p>
            <a:r>
              <a:t>matériel, on a affiché des consignes, on a distribué des EPI. Et le chiffre</a:t>
            </a:r>
          </a:p>
          <a:p>
            <a:r>
              <a:t>ne bouge pas. Ça veut dire que les réponses mises en place jusqu'ici ne</a:t>
            </a:r>
          </a:p>
          <a:p>
            <a:r>
              <a:t>s'attaquent pas au bon problème.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but de cette diapositive est de sortir de l'abstraction statistique.</a:t>
            </a:r>
          </a:p>
          <a:p>
            <a:r>
              <a:t>Évitez d'énumérer : appuyez sur le fait que les sièges de lésion</a:t>
            </a:r>
          </a:p>
          <a:p>
            <a:r>
              <a:t>correspondent exactement aux zones que le groupe a citées en levant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clé à faire passer : on ne parle pas de deux sujets différents.</a:t>
            </a:r>
          </a:p>
          <a:p>
            <a:r>
              <a:t>Un verre qui déborde d'un coup, c'est l'accident. Un verre qui reste plein</a:t>
            </a:r>
          </a:p>
          <a:p>
            <a:r>
              <a:t>en permanence pendant des années, c'est la maladie professionnelle.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Adaptez l'exemple au public présent dans la salle : population très mixte</a:t>
            </a:r>
          </a:p>
          <a:p>
            <a:r>
              <a:t>dans un organisme de recherche, avec des postes administratifs, des postes</a:t>
            </a:r>
          </a:p>
          <a:p>
            <a:r>
              <a:t>techniques en atelier et des interventions sur installations.</a:t>
            </a:r>
          </a:p>
          <a:p/>
          <a:p>
            <a:r>
              <a:t>Le message : « Le collègue de bureau et le collègue d'atelier n'ont pas les</a:t>
            </a:r>
          </a:p>
          <a:p>
            <a:r>
              <a:t>mêmes gestes, mais ils ont le même premier risque. Ce qui change, c'est ce</a:t>
            </a:r>
          </a:p>
          <a:p>
            <a:r>
              <a:t>qui remplit leur verre.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l'argument le plus structurant de la phase 0. Prenez le temps.</a:t>
            </a:r>
          </a:p>
          <a:p>
            <a:r>
              <a:t>Terminez par : « On ne voit pas le verre se remplir. C'est exactement pour</a:t>
            </a:r>
          </a:p>
          <a:p>
            <a:r>
              <a:t>ça qu'on est là aujourd'hui.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à l'oral, sur un ton décontracté. Ne lisez pas la diapositive.</a:t>
            </a:r>
          </a:p>
          <a:p>
            <a:r>
              <a:t>Précisez bien que rien de ce qui est noté sur la fiche ne sera ramassé.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de bascule entre le constat et le modèle. Après cette phrase,</a:t>
            </a:r>
          </a:p>
          <a:p>
            <a:r>
              <a:t>on ne revient plus aux statistiques.</a:t>
            </a:r>
          </a:p>
          <a:p/>
          <a:p>
            <a:r>
              <a:t>Enchaînez directement : « Et pour regarder ce vase, on va utiliser un outil</a:t>
            </a:r>
          </a:p>
          <a:p>
            <a:r>
              <a:t>simple que vous allez construire vous-mêmes.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ici que la session papier remplace l'application. Distribuez la fiche</a:t>
            </a:r>
          </a:p>
          <a:p>
            <a:r>
              <a:t>participant (annexes en fin de support, à imprimer en recto-verso).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Distribuez la fiche maintenant et laissez trente secondes pour la parcourir.</a:t>
            </a:r>
          </a:p>
          <a:p>
            <a:r>
              <a:t>Montrez physiquement la case « tâche de référence » en haut : c'est le point</a:t>
            </a:r>
          </a:p>
          <a:p>
            <a:r>
              <a:t>d'ancrage de toute la session.</a:t>
            </a:r>
          </a:p>
          <a:p/>
          <a:p>
            <a:r>
              <a:t>Si un participant bloque sur les chiffres, rassurez : « On ne cherche pas la</a:t>
            </a:r>
          </a:p>
          <a:p>
            <a:r>
              <a:t>précision au dixième. On cherche l'ordre de grandeur et ce qu'il révèle.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pédagogique important, souvent nouveau pour le groupe.</a:t>
            </a:r>
          </a:p>
          <a:p/>
          <a:p>
            <a:r>
              <a:t>Demandez d'abord : « Donnez-moi un exemple de tâche dans votre boulot. »</a:t>
            </a:r>
          </a:p>
          <a:p>
            <a:r>
              <a:t>Les réponses seront des objectifs. Rebondissez : « Ce que votre responsable</a:t>
            </a:r>
          </a:p>
          <a:p>
            <a:r>
              <a:t>vous demande, ce qui est écrit sur votre fiche de poste, c'est un objectif.</a:t>
            </a:r>
          </a:p>
          <a:p>
            <a:r>
              <a:t>Nous, on regarde ce que vous mettez concrètement en place pour l'atteindre. »</a:t>
            </a:r>
          </a:p>
          <a:p/>
          <a:p>
            <a:r>
              <a:t>Laissez 3 minutes d'écriture. Passez dans les rangs : c'est le meilleur</a:t>
            </a:r>
          </a:p>
          <a:p>
            <a:r>
              <a:t>moment pour repérer les participants qui auront des choses à partager.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Cœur de la session. Pour chaque élément : on fait deviner, on structure,</a:t>
            </a:r>
          </a:p>
          <a:p>
            <a:r>
              <a:t>on note, on débriefe. Ne jamais annoncer les composantes avant que le</a:t>
            </a:r>
          </a:p>
          <a:p>
            <a:r>
              <a:t>groupe ne les ait nommées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placer avant le premier élément. C'est ici qu'on pose la philosophie :</a:t>
            </a:r>
          </a:p>
          <a:p/>
          <a:p>
            <a:r>
              <a:t>« Les outils qui existent s'arrêtent souvent à deux ou trois dimensions :</a:t>
            </a:r>
          </a:p>
          <a:p>
            <a:r>
              <a:t>les postures, les charges, parfois l'environnement. Si on ne voit qu'une</a:t>
            </a:r>
          </a:p>
          <a:p>
            <a:r>
              <a:t>partie du tableau, on ne peut agir que sur une partie du problème. »</a:t>
            </a:r>
          </a:p>
          <a:p/>
          <a:p>
            <a:r>
              <a:t>Certains éléments dépendent du travailleur, d'autres de l'organisation.</a:t>
            </a:r>
          </a:p>
          <a:p>
            <a:r>
              <a:t>Identifier lesquels, c'est déjà gagner en lucidité.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questions suffisent à faire émerger les quatre composantes du</a:t>
            </a:r>
          </a:p>
          <a:p>
            <a:r>
              <a:t>Verre : âge, antécédents médicaux, condition physique, hygiène de vie.</a:t>
            </a:r>
          </a:p>
          <a:p/>
          <a:p>
            <a:r>
              <a:t>Une fois qu'elles ont été nommées par le groupe, résumez : « Vous venez</a:t>
            </a:r>
          </a:p>
          <a:p>
            <a:r>
              <a:t>d'identifier ce qui définit la taille de votre verre. Maintenant, à vous</a:t>
            </a:r>
          </a:p>
          <a:p>
            <a:r>
              <a:t>de définir le vôtre. »</a:t>
            </a:r>
          </a:p>
          <a:p/>
          <a:p>
            <a:r>
              <a:t>Ton bienveillant et factuel, jamais moralisateur : c'est l'élément le plus</a:t>
            </a:r>
          </a:p>
          <a:p>
            <a:r>
              <a:t>intime du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Insistez sur le fait que plusieurs de ces facteurs sont modifiables : c'est</a:t>
            </a:r>
          </a:p>
          <a:p>
            <a:r>
              <a:t>ce qui rend l'élément mobilisateur plutôt que fataliste.</a:t>
            </a:r>
          </a:p>
          <a:p/>
          <a:p>
            <a:r>
              <a:t>Débrief : « Vos verres ont déjà des tailles différentes. Pour la même tâche,</a:t>
            </a:r>
          </a:p>
          <a:p>
            <a:r>
              <a:t>certains ont une capacité d'absorption naturellement plus grande.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Laissez 2 minutes. Ne commentez pas les résultats individuels à voix haute.</a:t>
            </a:r>
          </a:p>
          <a:p/>
          <a:p>
            <a:r>
              <a:t>Si quelqu'un se retrouve à 20 et le prend mal, recadrez : « Ce n'est pas une</a:t>
            </a:r>
          </a:p>
          <a:p>
            <a:r>
              <a:t>note sur votre personne. C'est une marge de manœuvre. Plus elle est faible,</a:t>
            </a:r>
          </a:p>
          <a:p>
            <a:r>
              <a:t>plus les autres éléments comptent — et sur ceux-là, on peut agir.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Laissez le groupe répondre librement et notez les mots clés au paperboard.</a:t>
            </a:r>
          </a:p>
          <a:p>
            <a:r>
              <a:t>Vous verrez émerger les cinq composantes sans avoir à les annoncer :</a:t>
            </a:r>
          </a:p>
          <a:p>
            <a:r>
              <a:t>charge manipulée, posture, fréquence et durée, demande cognitive,</a:t>
            </a:r>
          </a:p>
          <a:p>
            <a:r>
              <a:t>pression psychosociale.</a:t>
            </a:r>
          </a:p>
          <a:p/>
          <a:p>
            <a:r>
              <a:t>Résumez ensuite : « C'est ce que vous faites, comment, pendant combien de</a:t>
            </a:r>
          </a:p>
          <a:p>
            <a:r>
              <a:t>temps, et dans quel état cognitif et psychique. »</a:t>
            </a:r>
          </a:p>
          <a:p/>
          <a:p>
            <a:r>
              <a:t>C'est l'élément qui prend le plus de temps. C'est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Charge manipulée : un objet de 10 kg à bout de bras n'a rien à voir avec le</a:t>
            </a:r>
          </a:p>
          <a:p>
            <a:r>
              <a:t>même objet collé au corps. Si le groupe est technique, appuyez-vous sur les</a:t>
            </a:r>
          </a:p>
          <a:p>
            <a:r>
              <a:t>seuils de la norme NF X35-109 et demandez : « êtes-vous souvent au-dessus ? »</a:t>
            </a:r>
          </a:p>
          <a:p/>
          <a:p>
            <a:r>
              <a:t>Posture : la posture statique maintenue est souvent plus contraignante que</a:t>
            </a:r>
          </a:p>
          <a:p>
            <a:r>
              <a:t>le mouvement. C'est contre-intuitif, insistez.</a:t>
            </a:r>
          </a:p>
          <a:p/>
          <a:p>
            <a:r>
              <a:t>Fréquence : « en pourcentage de votre temps de travail, combien de temps</a:t>
            </a:r>
          </a:p>
          <a:p>
            <a:r>
              <a:t>êtes-vous en posture contraignante ou en effort ? »</a:t>
            </a:r>
          </a:p>
          <a:p/>
          <a:p>
            <a:r>
              <a:t>Pression psychosociale : elle augmente la tension musculaire de base et</a:t>
            </a:r>
          </a:p>
          <a:p>
            <a:r>
              <a:t>réduit la tolérance à la douleur. L'impact est réel et documenté.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court mais très rentable. Il force chacun à hiérarchiser, ce qui</a:t>
            </a:r>
          </a:p>
          <a:p>
            <a:r>
              <a:t>est déjà un acte d'analyse de son propre travail.</a:t>
            </a:r>
          </a:p>
          <a:p/>
          <a:p>
            <a:r>
              <a:t>Il révèle des angles morts : beaucoup sous-estiment la part mentale et la</a:t>
            </a:r>
          </a:p>
          <a:p>
            <a:r>
              <a:t>fréquence, et surestiment la charge brute. Et il crée des écarts surprenants</a:t>
            </a:r>
          </a:p>
          <a:p>
            <a:r>
              <a:t>entre des personnes qui font pourtant le même métier — excellent matériau</a:t>
            </a:r>
          </a:p>
          <a:p>
            <a:r>
              <a:t>de débrief. Demandez à deux ou trois personnes de donner leur répartition.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Laissez 5 minutes, c'est l'élément le plus long à renseigner.</a:t>
            </a:r>
          </a:p>
          <a:p/>
          <a:p>
            <a:r>
              <a:t>Débrief : « Certains ont un débit très physique, d'autres un débit largement</a:t>
            </a:r>
          </a:p>
          <a:p>
            <a:r>
              <a:t>mental. Deux personnes peuvent arriver au même niveau de remplissage par des</a:t>
            </a:r>
          </a:p>
          <a:p>
            <a:r>
              <a:t>chemins complètement différents. »</a:t>
            </a:r>
          </a:p>
          <a:p/>
          <a:p>
            <a:r>
              <a:t>C'est à partir d'ici que l'indicateur commence à exister. Demandez à chacun</a:t>
            </a:r>
          </a:p>
          <a:p>
            <a:r>
              <a:t>de garder sa note sous les yeux : elle va bouger avec les éléments suivants.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canicule est l'exemple le plus parlant, parce que tout le monde l'a vécu.</a:t>
            </a:r>
          </a:p>
          <a:p/>
          <a:p>
            <a:r>
              <a:t>Faites ensuite deviner les autres facteurs : bruit, vibrations, éclairage,</a:t>
            </a:r>
          </a:p>
          <a:p>
            <a:r>
              <a:t>espace exigu, insalubrité, travail de nuit, équipements contraignants.</a:t>
            </a:r>
          </a:p>
          <a:p>
            <a:r>
              <a:t>Demandez des exemples tirés de leur propre environnement.</a:t>
            </a:r>
          </a:p>
          <a:p/>
          <a:p>
            <a:r>
              <a:t>Message central : « La Bulle ne crée pas les contraintes. Elle les amplifie. »</a:t>
            </a:r>
          </a:p>
          <a:p>
            <a:r>
              <a:t>C'est l'élément qui crée le plus de surprises, parce que l'environnement est</a:t>
            </a:r>
          </a:p>
          <a:p>
            <a:r>
              <a:t>perçu comme un décor, pas comme une contrainte 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Adaptez aux environnements présents dans la salle : local technique, zone</a:t>
            </a:r>
          </a:p>
          <a:p>
            <a:r>
              <a:t>d'intervention à accès restreint, atelier, bureau paysager.</a:t>
            </a:r>
          </a:p>
          <a:p/>
          <a:p>
            <a:r>
              <a:t>Le passage en EPI est un excellent exemple à faire émerger : la même tâche</a:t>
            </a:r>
          </a:p>
          <a:p>
            <a:r>
              <a:t>réalisée avec des protections contraignantes n'a pas le même coût pour le</a:t>
            </a:r>
          </a:p>
          <a:p>
            <a:r>
              <a:t>corps.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Débrief : « Pour certains, l'environnement change peu les choses. Pour</a:t>
            </a:r>
          </a:p>
          <a:p>
            <a:r>
              <a:t>d'autres, c'est le facteur majeur. »</a:t>
            </a:r>
          </a:p>
          <a:p/>
          <a:p>
            <a:r>
              <a:t>Faites remarquer que la Bulle est très souvent un levier organisationnel :</a:t>
            </a:r>
          </a:p>
          <a:p>
            <a:r>
              <a:t>contrairement à la posture, on ne demande pas au travailleur de changer la</a:t>
            </a:r>
          </a:p>
          <a:p>
            <a:r>
              <a:t>température ou l'éclairage.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vous avez un visuel de parcours d'obstacles, c'est le moment de le</a:t>
            </a:r>
          </a:p>
          <a:p>
            <a:r>
              <a:t>projeter : le même trajet avec et sans obstacles.</a:t>
            </a:r>
          </a:p>
          <a:p/>
          <a:p>
            <a:r>
              <a:t>Demandez ensuite à chacun de cibler deux aléas qui reviennent souvent sur sa</a:t>
            </a:r>
          </a:p>
          <a:p>
            <a:r>
              <a:t>tâche de référence. Deux, pas plus : on cherche les récurrents, pas</a:t>
            </a:r>
          </a:p>
          <a:p>
            <a:r>
              <a:t>l'exhaustivité.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l'élément le plus facile à ancrer : tout le monde a des histoires</a:t>
            </a:r>
          </a:p>
          <a:p>
            <a:r>
              <a:t>d'imprévus. Laissez-en raconter deux ou trois, pas plus.</a:t>
            </a:r>
          </a:p>
          <a:p/>
          <a:p>
            <a:r>
              <a:t>Débrief : « Vous voyez apparaître une source de remplissage qui ne faisait</a:t>
            </a:r>
          </a:p>
          <a:p>
            <a:r>
              <a:t>pas partie du robinet de base. Ceux dont l'indicateur vient de chuter,</a:t>
            </a:r>
          </a:p>
          <a:p>
            <a:r>
              <a:t>est-ce que vous voulez bien nous dire pourquoi ? » Ce sont souvent les</a:t>
            </a:r>
          </a:p>
          <a:p>
            <a:r>
              <a:t>situations les plus révélatrices de la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Repère utile si le groupe hésite : « Est-ce que vous en parlez encore le</a:t>
            </a:r>
          </a:p>
          <a:p>
            <a:r>
              <a:t>soir en rentrant ? Si oui, c'est au moins un + 2.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Laissez le groupe répondre librement : pauses, étirements, sport, sommeil,</a:t>
            </a:r>
          </a:p>
          <a:p>
            <a:r>
              <a:t>changement de posture, hydratation.</a:t>
            </a:r>
          </a:p>
          <a:p/>
          <a:p>
            <a:r>
              <a:t>Puis structurez autour des composantes. La Paille est le seul élément qui</a:t>
            </a:r>
          </a:p>
          <a:p>
            <a:r>
              <a:t>joue en faveur du travailleur — présentez-la avec enthousiasme, mais avec</a:t>
            </a:r>
          </a:p>
          <a:p>
            <a:r>
              <a:t>précision : elle ne remet pas le verre à zéro. Les contraintes déjà subies</a:t>
            </a:r>
          </a:p>
          <a:p>
            <a:r>
              <a:t>restent dans le corps.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Distinguez bien les deux cas de figure, c'est le point clé :</a:t>
            </a:r>
          </a:p>
          <a:p/>
          <a:p>
            <a:r>
              <a:t>1. Tâche en autonomie : vous avez une marge de manœuvre, la paille peut</a:t>
            </a:r>
          </a:p>
          <a:p>
            <a:r>
              <a:t>être activée quand vous le décidez.</a:t>
            </a:r>
          </a:p>
          <a:p>
            <a:r>
              <a:t>2. Tâche contrainte par une cadence ou une coactivité : très peu de fenêtres</a:t>
            </a:r>
          </a:p>
          <a:p>
            <a:r>
              <a:t>de récupération. La paille doit alors être intégrée à la conception même</a:t>
            </a:r>
          </a:p>
          <a:p>
            <a:r>
              <a:t>du poste, pas laissée à l'initiative individuelle.</a:t>
            </a:r>
          </a:p>
          <a:p/>
          <a:p>
            <a:r>
              <a:t>Cette distinction évite le discours culpabilisant du « il suffit de faire</a:t>
            </a:r>
          </a:p>
          <a:p>
            <a:r>
              <a:t>des pauses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L'exigence du « vous l'avez fait hier » est essentielle : sans elle, tout le</a:t>
            </a:r>
          </a:p>
          <a:p>
            <a:r>
              <a:t>monde se met 5 et la session perd son intérêt.</a:t>
            </a:r>
          </a:p>
          <a:p/>
          <a:p>
            <a:r>
              <a:t>Débrief : demandez qui a moins de 2 points, et pourquoi. Vous verrez très</a:t>
            </a:r>
          </a:p>
          <a:p>
            <a:r>
              <a:t>vite apparaître la différence entre tâche autonome et tâche contrainte.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synthèse visuelle de tout ce qui vient d'être construit.</a:t>
            </a:r>
          </a:p>
          <a:p>
            <a:r>
              <a:t>Annoncez-le comme tel : « On a cinq notes. On va en faire une seule chose.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Faites le calcul de l'exemple au paperboard, lentement, devant tout le monde</a:t>
            </a:r>
          </a:p>
          <a:p>
            <a:r>
              <a:t>avant de les lancer : 6 × 1,5 = 9 ; 9 + 2 = 11 ; 11 − 3 = 8 par heure ;</a:t>
            </a:r>
          </a:p>
          <a:p>
            <a:r>
              <a:t>40 ÷ 8 = 5 heures.</a:t>
            </a:r>
          </a:p>
          <a:p/>
          <a:p>
            <a:r>
              <a:t>Si la paille est supérieure ou égale au reste, le résultat est négatif ou nul :</a:t>
            </a:r>
          </a:p>
          <a:p>
            <a:r>
              <a:t>le verre ne déborde pas. Dites-le clairement, c'est un résultat, pas une</a:t>
            </a:r>
          </a:p>
          <a:p>
            <a:r>
              <a:t>erreur — et c'est le seul cas où la situation est réellement soutenable.</a:t>
            </a:r>
          </a:p>
          <a:p/>
          <a:p>
            <a:r>
              <a:t>Prévoyez d'aider deux ou trois personnes : l'objectif n'est pas de tester</a:t>
            </a:r>
          </a:p>
          <a:p>
            <a:r>
              <a:t>leur arithmétique.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dramatisez pas les résultats bas, mais ne les minimisez pas non plus :</a:t>
            </a:r>
          </a:p>
          <a:p>
            <a:r>
              <a:t>« Il y a des situations ici qui méritent vraiment qu'on s'y attarde. C'est</a:t>
            </a:r>
          </a:p>
          <a:p>
            <a:r>
              <a:t>exactement pour ça qu'on fait ce travail. »</a:t>
            </a:r>
          </a:p>
          <a:p/>
          <a:p>
            <a:r>
              <a:t>Court terme, un verre qui déborde, c'est le risque d'accident. Long terme,</a:t>
            </a:r>
          </a:p>
          <a:p>
            <a:r>
              <a:t>c'est le risque de maladie professionnelle. Reliez explicitement au chiffre</a:t>
            </a:r>
          </a:p>
          <a:p>
            <a:r>
              <a:t>du début de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Discussion collective, 10 minutes. Faites un rapide tour de salle en notant</a:t>
            </a:r>
          </a:p>
          <a:p>
            <a:r>
              <a:t>au paperboard l'élément dominant de chacun.</a:t>
            </a:r>
          </a:p>
          <a:p/>
          <a:p>
            <a:r>
              <a:t>Questions utiles : qui a le temps le plus court ? Le plus long ? Pour des</a:t>
            </a:r>
          </a:p>
          <a:p>
            <a:r>
              <a:t>tâches identiques ou différentes ? Deux personnes du même service avec des</a:t>
            </a:r>
          </a:p>
          <a:p>
            <a:r>
              <a:t>résultats très différents, c'est le meilleur matériau pédagogique de la</a:t>
            </a:r>
          </a:p>
          <a:p>
            <a:r>
              <a:t>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Commencez par la pause active : elle illustre la paille au moment exact où</a:t>
            </a:r>
          </a:p>
          <a:p>
            <a:r>
              <a:t>le groupe commence à fatiguer. C'est une démonstration, pas une récréation.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Faites-le vraiment, avec eux, sans ironie. C'est le moment le plus mémorisé</a:t>
            </a:r>
          </a:p>
          <a:p>
            <a:r>
              <a:t>de la session parce qu'il est vécu et non expliqué.</a:t>
            </a:r>
          </a:p>
          <a:p/>
          <a:p>
            <a:r>
              <a:t>Au retour : « Ce que vous venez de faire, c'est exactement ce que vous avez</a:t>
            </a:r>
          </a:p>
          <a:p>
            <a:r>
              <a:t>noté tout à l'heure dans la paille. La différence entre 1 et 4 points, c'est</a:t>
            </a:r>
          </a:p>
          <a:p>
            <a:r>
              <a:t>ça, répété dans la journée.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le temps le permet, faites l'exercice en direct sur une deuxième tâche</a:t>
            </a:r>
          </a:p>
          <a:p>
            <a:r>
              <a:t>proposée par un participant : c'est la meilleure preuve que le modèle</a:t>
            </a:r>
          </a:p>
          <a:p>
            <a:r>
              <a:t>n'est pas lié à un métier particulier.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hiérarchisez pas les deux colonnes : si vous insistez trop sur la gauche,</a:t>
            </a:r>
          </a:p>
          <a:p>
            <a:r>
              <a:t>le groupe entend « c'est de votre faute » ; si vous n'insistez que sur la</a:t>
            </a:r>
          </a:p>
          <a:p>
            <a:r>
              <a:t>droite, chacun repart sans rien à faire.</a:t>
            </a:r>
          </a:p>
          <a:p/>
          <a:p>
            <a:r>
              <a:t>Ouvrez cinq minutes de discussion sur les leviers que le groupe juge les</a:t>
            </a:r>
          </a:p>
          <a:p>
            <a:r>
              <a:t>plus réalistes dans son contexte. Ne cherchez pas à tout résoudre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Tour de salle complet. Ne sautez personne, même si le temps est serré :</a:t>
            </a:r>
          </a:p>
          <a:p>
            <a:r>
              <a:t>c'est le moment qui transforme la session en changement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niveau de précision de l'engagement prédit directement sa probabilité</a:t>
            </a:r>
          </a:p>
          <a:p>
            <a:r>
              <a:t>d'application. Poussez à la précision, gentiment mais systématiquement :</a:t>
            </a:r>
          </a:p>
          <a:p>
            <a:r>
              <a:t>« Quand exactement ? Après quoi ? Combien de temps ? »</a:t>
            </a:r>
          </a:p>
          <a:p/>
          <a:p>
            <a:r>
              <a:t>Faites le tour de la salle à l'oral. Chacun énonce son engagement à voix</a:t>
            </a:r>
          </a:p>
          <a:p>
            <a:r>
              <a:t>haute : l'énonciation publique change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dire sans notes, naturellement, en regardant la salle. Ne lisez pas.</a:t>
            </a:r>
          </a:p>
          <a:p>
            <a:r>
              <a:t>Laissez un silence avant de remercier.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diapositives suivantes constituent la fiche participant.</a:t>
            </a:r>
          </a:p>
          <a:p>
            <a:r>
              <a:t>Imprimez-les en recto-verso, une par personne, plus quelques exemplaires</a:t>
            </a:r>
          </a:p>
          <a:p>
            <a:r>
              <a:t>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théorique : 4 heures pleines. Priorité aux moments forts sur les</a:t>
            </a:r>
          </a:p>
          <a:p>
            <a:r>
              <a:t>éléments plutôt qu'à la couverture exhaustive du programme.</a:t>
            </a:r>
          </a:p>
          <a:p/>
          <a:p>
            <a:r>
              <a:t>Si vous devez couper, coupez dans la généralisation (phase 4), jamais dans</a:t>
            </a:r>
          </a:p>
          <a:p>
            <a:r>
              <a:t>les débriefs d'éléments ni dans les engagements.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de fin, à laisser affichée pendant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0"/>
            <a:ext cx="3047923" cy="118872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0"/>
            <a:ext cx="3047923" cy="118872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18872"/>
            <a:ext cx="12191695" cy="3429000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erre-moi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735" y="502920"/>
            <a:ext cx="1992854" cy="2606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2960" y="2834640"/>
            <a:ext cx="81381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27248"/>
            <a:ext cx="7406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4000" b="1" i="0">
                <a:solidFill>
                  <a:srgbClr val="0033A0"/>
                </a:solidFill>
                <a:latin typeface="Arial"/>
              </a:rPr>
              <a:t>Le Modèle du Verre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2000" b="0" i="0">
                <a:solidFill>
                  <a:srgbClr val="2F2F2F"/>
                </a:solidFill>
                <a:latin typeface="Arial"/>
              </a:rPr>
              <a:t>Sensibilisation au risque lié à l'activité physique au travail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D6E71"/>
                </a:solidFill>
                <a:latin typeface="Arial"/>
              </a:rPr>
              <a:t>Session de sensibilisation — 4 heures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D6E71"/>
                </a:solidFill>
                <a:latin typeface="Arial"/>
              </a:rPr>
              <a:t>LeVerre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0"/>
            <a:ext cx="3047923" cy="118872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0"/>
            <a:ext cx="3047923" cy="118872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1C5D3"/>
                </a:solidFill>
                <a:latin typeface="Arial"/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Ouverture et ancrage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BEBEC8"/>
                </a:solidFill>
                <a:latin typeface="Arial"/>
              </a:rPr>
              <a:t>On part de leur vécu, pas de la théorie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80560"/>
            <a:ext cx="1737360" cy="457200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9028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500" b="1" i="0">
                <a:solidFill>
                  <a:srgbClr val="1C446B"/>
                </a:solidFill>
                <a:latin typeface="Arial"/>
              </a:rPr>
              <a:t>30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280160" cy="73152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3400" b="1" i="0">
                <a:solidFill>
                  <a:srgbClr val="0033A0"/>
                </a:solidFill>
                <a:latin typeface="Arial"/>
              </a:rPr>
              <a:t>Qui a déjà ressenti une douleur musculaire ou articulaire liée à son travail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F2F2F"/>
                </a:solidFill>
                <a:latin typeface="Arial"/>
              </a:rPr>
              <a:t>Une tension dans le dos, les épaules, les poignets. Même passagère. Même bénigne.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9600" b="1" i="0">
                <a:solidFill>
                  <a:srgbClr val="0033A0"/>
                </a:solidFill>
                <a:latin typeface="Arial"/>
              </a:rPr>
              <a:t>549 614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2200" b="0" i="0">
                <a:solidFill>
                  <a:srgbClr val="2F2F2F"/>
                </a:solidFill>
                <a:latin typeface="Arial"/>
              </a:rPr>
              <a:t>accidents du travail avec arrêt en France, en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749039"/>
            <a:ext cx="10545775" cy="13716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749039"/>
            <a:ext cx="64008" cy="1371600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005071"/>
            <a:ext cx="1003371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2F2F2F"/>
                </a:solidFill>
                <a:latin typeface="Arial"/>
              </a:rPr>
              <a:t>1 accident sur 2 est lié à la manutention manuelle</a:t>
            </a:r>
          </a:p>
          <a:p>
            <a:pPr algn="l">
              <a:spcAft>
                <a:spcPts val="1100"/>
              </a:spcAft>
            </a:pPr>
            <a:r>
              <a:rPr sz="1800" b="0" i="0">
                <a:solidFill>
                  <a:srgbClr val="2F2F2F"/>
                </a:solidFill>
                <a:latin typeface="Arial"/>
              </a:rPr>
              <a:t>Devant les chutes de plain-pied (15 %) et les chutes de hauteur (12 %)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000" b="0" i="1">
                <a:solidFill>
                  <a:srgbClr val="6D6E71"/>
                </a:solidFill>
                <a:latin typeface="Arial"/>
              </a:rPr>
              <a:t>Source : Assurance Maladie — Risques professionnels, statistiques 2024 (publiées en 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0033A0"/>
                </a:solidFill>
                <a:latin typeface="Arial"/>
              </a:rPr>
              <a:t>Ce que ça représente vraiment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4577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1" i="0">
                <a:solidFill>
                  <a:srgbClr val="2F2F2F"/>
                </a:solidFill>
                <a:latin typeface="Arial"/>
              </a:rPr>
              <a:t>764 décès liés à un accident du travail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54 millions de journées de travail perdues — l'équivalent d'environ 148 000 années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Les lésions touchent d'abord les membres supérieurs (33 %), les membres inférieurs (25 %) et le dos (19 %)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81526"/>
            <a:ext cx="10545775" cy="163347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081526"/>
            <a:ext cx="64008" cy="163347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337558"/>
            <a:ext cx="10033711" cy="11214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2F2F2F"/>
                </a:solidFill>
                <a:latin typeface="Arial"/>
              </a:rPr>
              <a:t>Ce ne sont pas des accidents spectaculaires.</a:t>
            </a:r>
          </a:p>
          <a:p>
            <a:pPr algn="l">
              <a:spcAft>
                <a:spcPts val="1100"/>
              </a:spcAft>
            </a:pPr>
            <a:r>
              <a:rPr sz="1700" b="0" i="0">
                <a:solidFill>
                  <a:srgbClr val="2F2F2F"/>
                </a:solidFill>
                <a:latin typeface="Arial"/>
              </a:rPr>
              <a:t>Ce sont des gestes ordinaires, faits des milliers de fois, dans des conditions qui s'accumulent.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000" b="0" i="1">
                <a:solidFill>
                  <a:srgbClr val="6D6E71"/>
                </a:solidFill>
                <a:latin typeface="Arial"/>
              </a:rPr>
              <a:t>Source : Assurance Maladie — Risques professionnels, statistiques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0033A0"/>
                </a:solidFill>
                <a:latin typeface="Arial"/>
              </a:rPr>
              <a:t>Et sur le long terme : les maladies professionnelles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4577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1" i="0">
                <a:solidFill>
                  <a:srgbClr val="2F2F2F"/>
                </a:solidFill>
                <a:latin typeface="Arial"/>
              </a:rPr>
              <a:t>50 598 maladies professionnelles reconnues en 2024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44 723 sont des troubles musculo-squelettiques, soit près de 9 sur 10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Localisation : épaule 37 %, main / poignet / doigts 31 %, coude 23 %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81526"/>
            <a:ext cx="10545775" cy="163347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081526"/>
            <a:ext cx="64008" cy="163347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337558"/>
            <a:ext cx="10033711" cy="11214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2F2F2F"/>
                </a:solidFill>
                <a:latin typeface="Arial"/>
              </a:rPr>
              <a:t>L'accident, c'est le court terme. Le TMS, c'est le long terme.</a:t>
            </a:r>
          </a:p>
          <a:p>
            <a:pPr algn="l">
              <a:spcAft>
                <a:spcPts val="1100"/>
              </a:spcAft>
            </a:pPr>
            <a:r>
              <a:rPr sz="1700" b="0" i="0">
                <a:solidFill>
                  <a:srgbClr val="2F2F2F"/>
                </a:solidFill>
                <a:latin typeface="Arial"/>
              </a:rPr>
              <a:t>Les deux viennent de la même accumulation. C'est exactement ce que le verre va représenter.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000" b="0" i="1">
                <a:solidFill>
                  <a:srgbClr val="6D6E71"/>
                </a:solidFill>
                <a:latin typeface="Arial"/>
              </a:rPr>
              <a:t>Source : Assurance Maladie — Risques professionnels, statistiques 2024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0033A0"/>
                </a:solidFill>
                <a:latin typeface="Arial"/>
              </a:rPr>
              <a:t>Au bureau comme à l'atelier, c'est le même premier risque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5044287" cy="3106419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5044287" cy="566928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Activités tertiaires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495647" cy="2009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2F2F2F"/>
                </a:solidFill>
                <a:latin typeface="Arial"/>
              </a:rPr>
              <a:t>38 %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des accidents du travail sont liés à la manutention manuelle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C'est le premier risque, devant les chutes de plain-pied (24 %)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828800"/>
            <a:ext cx="5044287" cy="3106419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4447" y="1828800"/>
            <a:ext cx="5044287" cy="566928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965960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Activités techniques et métallurgie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8767" y="2697480"/>
            <a:ext cx="4495647" cy="2009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2F2F2F"/>
                </a:solidFill>
                <a:latin typeface="Arial"/>
              </a:rPr>
              <a:t>54 %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des accidents du travail sont liés à la manutention manuelle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Devant l'outillage à main (16 %)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3819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700" b="1" i="0">
                <a:solidFill>
                  <a:srgbClr val="0033A0"/>
                </a:solidFill>
                <a:latin typeface="Arial"/>
              </a:rPr>
              <a:t>Le risque ne change pas de nature d'un métier à l'autre : ce sont les facteurs qui le nourrissent qui changent.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000" b="0" i="1">
                <a:solidFill>
                  <a:srgbClr val="6D6E71"/>
                </a:solidFill>
                <a:latin typeface="Arial"/>
              </a:rPr>
              <a:t>Source : Assurance Maladie 2024 — comités techniques nationaux H (services) et A (métallurgie)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0033A0"/>
                </a:solidFill>
                <a:latin typeface="Arial"/>
              </a:rPr>
              <a:t>Pourquoi ce risque-là ne recule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1">
                <a:solidFill>
                  <a:srgbClr val="6D6E71"/>
                </a:solidFill>
                <a:latin typeface="Arial"/>
              </a:rPr>
              <a:t>Comparons avec les risques qui, eux, ont reculé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4577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Risque électrique : personne ne touche un câble sans habilitation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Risque chimique : pictogrammes, fiches de données de sécurité, EPI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Risque incendie : extincteurs, exercices d'évacuation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355846"/>
            <a:ext cx="10545775" cy="163347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355846"/>
            <a:ext cx="64008" cy="163347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611878"/>
            <a:ext cx="10033711" cy="11214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2F2F2F"/>
                </a:solidFill>
                <a:latin typeface="Arial"/>
              </a:rPr>
              <a:t>Ces risques ont reculé parce qu'on a créé une conscience du risque.</a:t>
            </a:r>
          </a:p>
          <a:p>
            <a:pPr algn="l">
              <a:spcAft>
                <a:spcPts val="1100"/>
              </a:spcAft>
            </a:pPr>
            <a:r>
              <a:rPr sz="1700" b="0" i="0">
                <a:solidFill>
                  <a:srgbClr val="2F2F2F"/>
                </a:solidFill>
                <a:latin typeface="Arial"/>
              </a:rPr>
              <a:t>Le risque physique, lui, reste invisible : on voit la charge lourde, on voit la mauvaise posture, mais on ne voit jamais l'accumulation.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0033A0"/>
                </a:solidFill>
                <a:latin typeface="Arial"/>
              </a:rPr>
              <a:t>Le cadre de la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4577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Il n'y a pas de bonne ni de mauvaise réponse. Ce que vous notez vous appartient.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On n'est pas là pour désigner des responsables, mais pour identifier des leviers.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Profitez-en pour remettre en question vos façons de faire. Posez vos questions au fil de l'eau.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0033A0"/>
                </a:solidFill>
                <a:latin typeface="Arial"/>
              </a:rPr>
              <a:t>« C'est la goutte qui fait déborder le vase »</a:t>
            </a:r>
          </a:p>
        </p:txBody>
      </p:sp>
      <p:pic>
        <p:nvPicPr>
          <p:cNvPr id="7" name="Picture 6" descr="verre-ha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535" y="1737360"/>
            <a:ext cx="2936838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194560"/>
            <a:ext cx="7498079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000" b="0" i="0">
                <a:solidFill>
                  <a:srgbClr val="2F2F2F"/>
                </a:solidFill>
                <a:latin typeface="Arial"/>
              </a:rPr>
              <a:t>Aujourd'hui, on ne s'intéresse pas à la goutte.</a:t>
            </a:r>
          </a:p>
          <a:p>
            <a:pPr algn="l">
              <a:spcAft>
                <a:spcPts val="1400"/>
              </a:spcAft>
            </a:pPr>
            <a:r>
              <a:rPr sz="3000" b="1" i="0">
                <a:solidFill>
                  <a:srgbClr val="2F2F2F"/>
                </a:solidFill>
                <a:latin typeface="Arial"/>
              </a:rPr>
              <a:t>On s'intéresse au vase.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2F2F2F"/>
                </a:solidFill>
                <a:latin typeface="Arial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2F2F2F"/>
                </a:solidFill>
                <a:latin typeface="Arial"/>
              </a:rPr>
              <a:t>Ce qui provoque l'accident, ce n'est jamais le dernier geste. C'est tout ce qu'il y avait dans le verre avant lui.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0"/>
            <a:ext cx="3047923" cy="118872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0"/>
            <a:ext cx="3047923" cy="118872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1C5D3"/>
                </a:solidFill>
                <a:latin typeface="Arial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Votre fiche de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BEBEC8"/>
                </a:solidFill>
                <a:latin typeface="Arial"/>
              </a:rPr>
              <a:t>Chacun construit son propre verre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80560"/>
            <a:ext cx="1737360" cy="457200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9028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500" b="1" i="0">
                <a:solidFill>
                  <a:srgbClr val="1C446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0033A0"/>
                </a:solidFill>
                <a:latin typeface="Arial"/>
              </a:rPr>
              <a:t>Comment on va travailler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1">
                <a:solidFill>
                  <a:srgbClr val="6D6E71"/>
                </a:solidFill>
                <a:latin typeface="Arial"/>
              </a:rPr>
              <a:t>Une fiche, cinq notes, un résultat personnel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4577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Vous allez noter cinq éléments, un par un, sur une seule tâche de votre travail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À chaque élément, vous notez votre score sur la fiche — personne d'autre ne le voit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À la fin, un calcul simple vous donne votre indicateur : le temps que met votre verre à déborder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636516"/>
            <a:ext cx="10545775" cy="135280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636516"/>
            <a:ext cx="64008" cy="135280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892548"/>
            <a:ext cx="10033711" cy="840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2F2F2F"/>
                </a:solidFill>
                <a:latin typeface="Arial"/>
              </a:rPr>
              <a:t>Votre fiche ne sera pas ramassée.</a:t>
            </a:r>
          </a:p>
          <a:p>
            <a:pPr algn="l">
              <a:spcAft>
                <a:spcPts val="1100"/>
              </a:spcAft>
            </a:pPr>
            <a:r>
              <a:rPr sz="1700" b="0" i="0">
                <a:solidFill>
                  <a:srgbClr val="2F2F2F"/>
                </a:solidFill>
                <a:latin typeface="Arial"/>
              </a:rPr>
              <a:t>Elle repart avec vous, avec l'action que vous aurez choisie en fin de session.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0033A0"/>
                </a:solidFill>
                <a:latin typeface="Arial"/>
              </a:rPr>
              <a:t>Choisissez votre tâche de référence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10545775" cy="124612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64008" cy="124612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856232"/>
            <a:ext cx="10033711" cy="734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2F2F2F"/>
                </a:solidFill>
                <a:latin typeface="Arial"/>
              </a:rPr>
              <a:t>Une tâche concrète, que vous faites régulièrement, et que vous allez garder pendant toute la session.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57804"/>
            <a:ext cx="5044287" cy="304038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57804"/>
            <a:ext cx="5044287" cy="566928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94964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Un objectif de travail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126484"/>
            <a:ext cx="4495647" cy="194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500" b="0" i="0">
                <a:solidFill>
                  <a:srgbClr val="2F2F2F"/>
                </a:solidFill>
                <a:latin typeface="Arial"/>
              </a:rPr>
              <a:t>« Faire la maintenance d'un équipement »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500" b="0" i="0">
                <a:solidFill>
                  <a:srgbClr val="2F2F2F"/>
                </a:solidFill>
                <a:latin typeface="Arial"/>
              </a:rPr>
              <a:t>« Préparer une commande »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500" b="0" i="0">
                <a:solidFill>
                  <a:srgbClr val="2F2F2F"/>
                </a:solidFill>
                <a:latin typeface="Arial"/>
              </a:rPr>
              <a:t>« Assurer une permanence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3257804"/>
            <a:ext cx="5044287" cy="304038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4447" y="3257804"/>
            <a:ext cx="5044287" cy="566928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8767" y="3394964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Une tâche réelle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8767" y="4126484"/>
            <a:ext cx="4495647" cy="194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500" b="0" i="0">
                <a:solidFill>
                  <a:srgbClr val="2F2F2F"/>
                </a:solidFill>
                <a:latin typeface="Arial"/>
              </a:rPr>
              <a:t>« Démonter le capot au-dessus de ma tête, à deux, en zone étroite »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500" b="0" i="0">
                <a:solidFill>
                  <a:srgbClr val="2F2F2F"/>
                </a:solidFill>
                <a:latin typeface="Arial"/>
              </a:rPr>
              <a:t>« Descendre 40 cartons de 12 kg d'une palette, seul »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500" b="0" i="0">
                <a:solidFill>
                  <a:srgbClr val="2F2F2F"/>
                </a:solidFill>
                <a:latin typeface="Arial"/>
              </a:rPr>
              <a:t>« Rester assis 4 h devant deux écrans mal placés 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0"/>
            <a:ext cx="3047923" cy="118872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0"/>
            <a:ext cx="3047923" cy="118872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1C5D3"/>
                </a:solidFill>
                <a:latin typeface="Arial"/>
              </a:rPr>
              <a:t>PHASE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Les cinq éléments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BEBEC8"/>
                </a:solidFill>
                <a:latin typeface="Arial"/>
              </a:rPr>
              <a:t>Verre · Robinet · Bulle · Orage · Paille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80560"/>
            <a:ext cx="1737360" cy="457200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9028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500" b="1" i="0">
                <a:solidFill>
                  <a:srgbClr val="1C446B"/>
                </a:solidFill>
                <a:latin typeface="Arial"/>
              </a:rPr>
              <a:t>2 heures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0033A0"/>
                </a:solidFill>
                <a:latin typeface="Arial"/>
              </a:rPr>
              <a:t>Le modèle en une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146304" cy="457200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0033A0"/>
                </a:solidFill>
                <a:latin typeface="Arial"/>
              </a:rPr>
              <a:t>Le Robinet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Ce que la tâche demande à votre corps et à votre esprit. Il remplit le verre.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295144"/>
            <a:ext cx="146304" cy="457200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34086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6E2466"/>
                </a:solidFill>
                <a:latin typeface="Arial"/>
              </a:rPr>
              <a:t>La Bulle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40864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L'environnement dans lequel vous travaillez. Il amplifie le débit du robinet.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898648"/>
            <a:ext cx="146304" cy="457200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94436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E15E32"/>
                </a:solidFill>
                <a:latin typeface="Arial"/>
              </a:rPr>
              <a:t>L'Orage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944368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Les imprévus. Ils ajoutent de l'eau qui n'était pas prévue.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02152"/>
            <a:ext cx="146304" cy="457200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54787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61C5D3"/>
                </a:solidFill>
                <a:latin typeface="Arial"/>
              </a:rPr>
              <a:t>La Paille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547872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Tout ce qui permet de vider une partie du verre. La seule sortie du système.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105656"/>
            <a:ext cx="146304" cy="457200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15137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6D6E71"/>
                </a:solidFill>
                <a:latin typeface="Arial"/>
              </a:rPr>
              <a:t>Le Verre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151376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Votre capacité d'absorption. Elle détermine à partir de quand ça déborde.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892040"/>
            <a:ext cx="10545775" cy="105156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892040"/>
            <a:ext cx="64008" cy="1051560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148072"/>
            <a:ext cx="10033711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2F2F2F"/>
                </a:solidFill>
                <a:latin typeface="Arial"/>
              </a:rPr>
              <a:t>Un accident ou un TMS n'arrive jamais à cause d'un seul facteur. C'est toujours une combinaison.</a:t>
            </a:r>
          </a:p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Cinq éléments, donc cinq portes d'entrée différentes pour agir.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280160" cy="73152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3400" b="1" i="0">
                <a:solidFill>
                  <a:srgbClr val="6D6E71"/>
                </a:solidFill>
                <a:latin typeface="Arial"/>
              </a:rPr>
              <a:t>Trois questions avant de commencer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F2F2F"/>
                </a:solidFill>
                <a:latin typeface="Arial"/>
              </a:rPr>
              <a:t>Deux personnes du même âge ont-elles les mêmes capacités physiques ?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F2F2F"/>
                </a:solidFill>
                <a:latin typeface="Arial"/>
              </a:rPr>
              <a:t>Une ancienne blessure peut-elle encore influencer votre corps aujourd'hui ?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F2F2F"/>
                </a:solidFill>
                <a:latin typeface="Arial"/>
              </a:rPr>
              <a:t>Quelqu'un qui fait du sport réagit-il comme une personne sédentaire au même effort 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6D6E71"/>
                </a:solidFill>
                <a:latin typeface="Arial"/>
              </a:rPr>
              <a:t>Le Verre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1">
                <a:solidFill>
                  <a:srgbClr val="6D6E71"/>
                </a:solidFill>
                <a:latin typeface="Arial"/>
              </a:rPr>
              <a:t>Votre capacité d'absorption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7772400" cy="144424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64008" cy="1444244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30551"/>
            <a:ext cx="7260336" cy="9321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À débit égal, un petit verre déborde plus vite qu'un grand. Le verre ne dit pas si vous êtes solide ou fragile : il dit combien votre corps peut encaisser avant que le risque augmente.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38803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L'âge — le corps récupère moins vite avec le temps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Les antécédents — une zone déjà lésée reste plus sensible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La condition physique — les tissus entraînés encaissent davantage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L'hygiène de vie — sommeil, alimentation, activité physique hors travail</a:t>
            </a:r>
          </a:p>
        </p:txBody>
      </p:sp>
      <p:pic>
        <p:nvPicPr>
          <p:cNvPr id="12" name="Picture 11" descr="trois-ver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1920240"/>
            <a:ext cx="726440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6D6E71"/>
                </a:solidFill>
                <a:latin typeface="Arial"/>
              </a:rPr>
              <a:t>À vous : la taille de votre verre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1">
                <a:solidFill>
                  <a:srgbClr val="6D6E71"/>
                </a:solidFill>
                <a:latin typeface="Arial"/>
              </a:rPr>
              <a:t>Partez de 30, et ajoutez 5 pour chaque réponse favorable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1143000" cy="420624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+5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93392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Vous avez moins de 45 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50592"/>
            <a:ext cx="1143000" cy="420624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23744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+5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23744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Aucune douleur ni blessure liée au travail depuis 2 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980944"/>
            <a:ext cx="1143000" cy="420624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54096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+5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54096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Vous avez une activité physique régulière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11296"/>
            <a:ext cx="1143000" cy="420624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584448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+5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584448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Sommeil et alimentation globalement satisfaisants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224528"/>
            <a:ext cx="10545775" cy="6858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224528"/>
            <a:ext cx="64008" cy="685800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480560"/>
            <a:ext cx="10033711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6D6E71"/>
                </a:solidFill>
                <a:latin typeface="Arial"/>
              </a:rPr>
              <a:t>Votre capacité : entre 30 (petit verre) et 50 (grand verre)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093208"/>
            <a:ext cx="10545775" cy="9144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093208"/>
            <a:ext cx="64008" cy="914400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349240"/>
            <a:ext cx="10033711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2F2F2F"/>
                </a:solidFill>
                <a:latin typeface="Arial"/>
              </a:rPr>
              <a:t>Vous démarrez la journée déjà fatigué ou douloureux ? Retirez 10.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2F2F2F"/>
                </a:solidFill>
                <a:latin typeface="Arial"/>
              </a:rPr>
              <a:t>Un verre ne repart pas toujours de zéro le matin.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280160" cy="73152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3400" b="1" i="0">
                <a:solidFill>
                  <a:srgbClr val="0033A0"/>
                </a:solidFill>
                <a:latin typeface="Arial"/>
              </a:rPr>
              <a:t>Qu'est-ce que votre tâche demande concrètement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F2F2F"/>
                </a:solidFill>
                <a:latin typeface="Arial"/>
              </a:rPr>
              <a:t>À votre corps. À votre esprit.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F2F2F"/>
                </a:solidFill>
                <a:latin typeface="Arial"/>
              </a:rPr>
              <a:t>Qu'est-ce qui, dans ce que vous faites, sollicite vos articulations, vos muscles, votre concentration 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0033A0"/>
                </a:solidFill>
                <a:latin typeface="Arial"/>
              </a:rPr>
              <a:t>Le Robinet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1">
                <a:solidFill>
                  <a:srgbClr val="6D6E71"/>
                </a:solidFill>
                <a:latin typeface="Arial"/>
              </a:rPr>
              <a:t>Ce que la tâche verse dans le verre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7772400" cy="144424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64008" cy="144424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30551"/>
            <a:ext cx="7260336" cy="9321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Son débit dépend de l'intensité des sollicitations. Charge physique et charge mentale sont indissociables : la seconde est aussi déterminante que la première.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38803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La charge manipulée — le poids, mais surtout la prise et la distance au corps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La posture — angles articulaires, bras au-dessus des épaules, postures statiques maintenues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La fréquence et la durée — un geste léger répété mille fois pèse plus qu'un effort intense isolé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La demande cognitive — concentration, décisions, mémorisation en cours de tâche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La pression psychosociale — urgence, peur de l'erreur, tension relationnelle</a:t>
            </a:r>
          </a:p>
        </p:txBody>
      </p:sp>
      <p:pic>
        <p:nvPicPr>
          <p:cNvPr id="12" name="Picture 11" descr="verre-qu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1920240"/>
            <a:ext cx="2727064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0033A0"/>
                </a:solidFill>
                <a:latin typeface="Arial"/>
              </a:rPr>
              <a:t>Avant de noter : répartissez 100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10545775" cy="168300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64008" cy="168300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856232"/>
            <a:ext cx="10033711" cy="1170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2F2F2F"/>
                </a:solidFill>
                <a:latin typeface="Arial"/>
              </a:rPr>
              <a:t>Répartissez 100 points entre les cinq composantes du Robinet, selon ce qui pèse le plus dans votre tâche.</a:t>
            </a:r>
          </a:p>
          <a:p>
            <a:pPr algn="l">
              <a:spcAft>
                <a:spcPts val="1100"/>
              </a:spcAft>
            </a:pPr>
            <a:r>
              <a:rPr sz="1800" b="0" i="0">
                <a:solidFill>
                  <a:srgbClr val="2F2F2F"/>
                </a:solidFill>
                <a:latin typeface="Arial"/>
              </a:rPr>
              <a:t>Instinctivement, en deux minutes. Il n'y a pas de bonne réponse.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94684"/>
            <a:ext cx="6766560" cy="38404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7586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Charge manipulée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694684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170172"/>
            <a:ext cx="6766560" cy="38404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341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Posture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4170172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645660"/>
            <a:ext cx="6766560" cy="38404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70966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Fréquence et durée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645660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5121148"/>
            <a:ext cx="6766560" cy="38404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18515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Demande cognitive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5121148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596636"/>
            <a:ext cx="6766560" cy="38404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66064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Pression psychosociale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5596636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EB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0033A0"/>
                </a:solidFill>
                <a:latin typeface="Arial"/>
              </a:rPr>
              <a:t>À vous : le débit de votre robinet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1">
                <a:solidFill>
                  <a:srgbClr val="6D6E71"/>
                </a:solidFill>
                <a:latin typeface="Arial"/>
              </a:rPr>
              <a:t>Notez chaque composante de 0 à 10, puis faites la moyenne des cinq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1143000" cy="42062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0 –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93392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Sollicitation faible : geste léger, posture confortable, rythme choisi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50592"/>
            <a:ext cx="1143000" cy="42062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23744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4 –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23744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Sollicitation modérée : c'est fatigant, mais ça reste gérable sur la durée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980944"/>
            <a:ext cx="1143000" cy="42062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54096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7 –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54096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Sollicitation forte : effort marqué, posture contraignante, rythme subi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694176"/>
            <a:ext cx="10545775" cy="6858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694176"/>
            <a:ext cx="64008" cy="685800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950208"/>
            <a:ext cx="10033711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0033A0"/>
                </a:solidFill>
                <a:latin typeface="Arial"/>
              </a:rPr>
              <a:t>Votre débit Robinet : une note de 0 à 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280160" cy="73152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3400" b="1" i="0">
                <a:solidFill>
                  <a:srgbClr val="6E2466"/>
                </a:solidFill>
                <a:latin typeface="Arial"/>
              </a:rPr>
              <a:t>Il manque une question essentielle : le où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F2F2F"/>
                </a:solidFill>
                <a:latin typeface="Arial"/>
              </a:rPr>
              <a:t>Même tâche, même posture, même charge — mais à 38 °C.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F2F2F"/>
                </a:solidFill>
                <a:latin typeface="Arial"/>
              </a:rPr>
              <a:t>Votre corps consomme plus d'énergie, votre concentration baisse plus vite, votre récupération est plus lente.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6E2466"/>
                </a:solidFill>
                <a:latin typeface="Arial"/>
              </a:rPr>
              <a:t>La Bulle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1">
                <a:solidFill>
                  <a:srgbClr val="6D6E71"/>
                </a:solidFill>
                <a:latin typeface="Arial"/>
              </a:rPr>
              <a:t>L'environnement qui amplifie le débit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7772400" cy="118008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64008" cy="1180084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30551"/>
            <a:ext cx="7260336" cy="668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La Bulle explique pourquoi deux personnes avec le même Robinet ne ressentent pas la même chose et n'ont pas le même risque réel.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74643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Température — chaud, froid, écarts thermiques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Bruit et vibrations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Éclairage — insuffisant, éblouissant, clignotant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Espace de travail — exigu, encombré, accès difficile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Horaires — nuit, postes alternés, coupures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Matériel et équipements — inadaptés, manquants, contraignants</a:t>
            </a:r>
          </a:p>
        </p:txBody>
      </p:sp>
      <p:pic>
        <p:nvPicPr>
          <p:cNvPr id="12" name="Picture 11" descr="verre-moi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1920240"/>
            <a:ext cx="2727064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6E2466"/>
                </a:solidFill>
                <a:latin typeface="Arial"/>
              </a:rPr>
              <a:t>À vous : votre multiplicateur d'environnement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1">
                <a:solidFill>
                  <a:srgbClr val="6D6E71"/>
                </a:solidFill>
                <a:latin typeface="Arial"/>
              </a:rPr>
              <a:t>Comptez les facteurs vraiment dégradés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1143000" cy="420624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×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93392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0 ou 1 facteur dégradé — environnement globalement favorable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50592"/>
            <a:ext cx="1143000" cy="420624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23744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× 1,5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23744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2 ou 3 facteurs dégradés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980944"/>
            <a:ext cx="1143000" cy="420624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54096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×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54096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4 facteurs ou plus — l'environnement pèse lourd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694176"/>
            <a:ext cx="10545775" cy="6858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694176"/>
            <a:ext cx="64008" cy="685800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950208"/>
            <a:ext cx="10033711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6E2466"/>
                </a:solidFill>
                <a:latin typeface="Arial"/>
              </a:rPr>
              <a:t>Votre multiplicateur Bulle : × 1, × 1,5 ou ×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0033A0"/>
                </a:solidFill>
                <a:latin typeface="Arial"/>
              </a:rPr>
              <a:t>Travail prescrit et travail réel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5044287" cy="287528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5044287" cy="566928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Le travail prescrit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495647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Le chemin idéal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Celui prévu par la procédure, le planning, la fiche de poste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Pas de panne, pas de pièce manquante, pas de collègue absent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828800"/>
            <a:ext cx="5044287" cy="287528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4447" y="1828800"/>
            <a:ext cx="5044287" cy="566928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965960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Le travail réel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8767" y="2697480"/>
            <a:ext cx="4495647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Ce que vous faites vraiment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Avec les pannes, les pièces manquantes, les changements de dernière minute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Souvent en urgence, souvent en fin de poste, quand la marge est déjà 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268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700" b="1" i="0">
                <a:solidFill>
                  <a:srgbClr val="0033A0"/>
                </a:solidFill>
                <a:latin typeface="Arial"/>
              </a:rPr>
              <a:t>Un imprévu n'est pas seulement une perte de temps : c'est une mobilisation de ressources supplémentaires.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E15E32"/>
                </a:solidFill>
                <a:latin typeface="Arial"/>
              </a:rPr>
              <a:t>L'Orage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1">
                <a:solidFill>
                  <a:srgbClr val="6D6E71"/>
                </a:solidFill>
                <a:latin typeface="Arial"/>
              </a:rPr>
              <a:t>L'eau qui n'était pas prévue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7772400" cy="144424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64008" cy="1444244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30551"/>
            <a:ext cx="7260336" cy="9321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L'Orage, ce sont les aléas et les perturbations non planifiées. Ils ajoutent une charge qui ne figure nulle part dans la description du poste.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38803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Pannes et dysfonctionnements matériels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Pièces, outils ou informations manquantes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Changements de dernière minute et urgences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Absences et renforts non prévus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Interruptions — appels, sollicitations, coactivité</a:t>
            </a:r>
          </a:p>
        </p:txBody>
      </p:sp>
      <p:pic>
        <p:nvPicPr>
          <p:cNvPr id="12" name="Picture 11" descr="verre-ha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1920240"/>
            <a:ext cx="2727064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E15E32"/>
                </a:solidFill>
                <a:latin typeface="Arial"/>
              </a:rPr>
              <a:t>À vous : vos aléas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1">
                <a:solidFill>
                  <a:srgbClr val="6D6E71"/>
                </a:solidFill>
                <a:latin typeface="Arial"/>
              </a:rPr>
              <a:t>Pensez aux deux aléas qui reviennent le plus souvent sur votre tâche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1143000" cy="420624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+ 0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93392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Rares, et sans conséquence sur votre effort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50592"/>
            <a:ext cx="1143000" cy="420624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23744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+ 1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23744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Un aléa régulier, gérable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980944"/>
            <a:ext cx="1143000" cy="420624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54096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+ 2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54096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Plusieurs aléas réguliers, qui demandent un effort supplémentaire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11296"/>
            <a:ext cx="1143000" cy="420624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584448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+ 3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584448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Quotidiens, dans l'urgence, avec de la reprise de travail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224528"/>
            <a:ext cx="10545775" cy="6858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224528"/>
            <a:ext cx="64008" cy="685800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480560"/>
            <a:ext cx="10033711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E15E32"/>
                </a:solidFill>
                <a:latin typeface="Arial"/>
              </a:rPr>
              <a:t>Votre Orage : de + 0 à + 3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280160" cy="73152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3400" b="1" i="0">
                <a:solidFill>
                  <a:srgbClr val="61C5D3"/>
                </a:solidFill>
                <a:latin typeface="Arial"/>
              </a:rPr>
              <a:t>On n'a vu que ce qui remplit. Et pour vider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F2F2F"/>
                </a:solidFill>
                <a:latin typeface="Arial"/>
              </a:rPr>
              <a:t>À votre avis, qu'est-ce qui permet de faire baisser le niveau du verre 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61C5D3"/>
                </a:solidFill>
                <a:latin typeface="Arial"/>
              </a:rPr>
              <a:t>La Paille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1">
                <a:solidFill>
                  <a:srgbClr val="6D6E71"/>
                </a:solidFill>
                <a:latin typeface="Arial"/>
              </a:rPr>
              <a:t>La seule sortie du système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7772400" cy="170840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64008" cy="1708404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30551"/>
            <a:ext cx="7260336" cy="1196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Elle ne supprime pas les contraintes déjà subies, mais elle réduit le risque de débordement. Une paille efficace, c'est souvent l'inverse de la tâche : si vous portez des charges, un étirement ciblé vaut mieux qu'une pause assise.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02963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Les pauses — leur fréquence compte plus que leur durée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L'alternance posturale et la marche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Les étirements ciblés sur les zones sollicitées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L'hydratation</a:t>
            </a:r>
          </a:p>
          <a:p>
            <a:pPr algn="l" marL="256032" indent="-256032">
              <a:spcAft>
                <a:spcPts val="1100"/>
              </a:spcAft>
              <a:buClr>
                <a:srgbClr val="0033A0"/>
              </a:buClr>
              <a:buFont typeface="Arial"/>
              <a:buChar char="•"/>
            </a:pPr>
            <a:r>
              <a:rPr sz="1600" b="0" i="0">
                <a:solidFill>
                  <a:srgbClr val="2F2F2F"/>
                </a:solidFill>
                <a:latin typeface="Arial"/>
              </a:rPr>
              <a:t>Un espace de repos réellement disponible</a:t>
            </a:r>
          </a:p>
        </p:txBody>
      </p:sp>
      <p:pic>
        <p:nvPicPr>
          <p:cNvPr id="12" name="Picture 11" descr="verre-qu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1920240"/>
            <a:ext cx="2727064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61C5D3"/>
                </a:solidFill>
                <a:latin typeface="Arial"/>
              </a:rPr>
              <a:t>À vous : votre récupération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1">
                <a:solidFill>
                  <a:srgbClr val="6D6E71"/>
                </a:solidFill>
                <a:latin typeface="Arial"/>
              </a:rPr>
              <a:t>Comptez 1 point par élément réellement présent dans votre journée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20240"/>
            <a:ext cx="1143000" cy="420624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93392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Vous pouvez faire une pause quand vous en avez besoin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50592"/>
            <a:ext cx="1143000" cy="420624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23744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 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23744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Vous alternez les postures ou vous marchez régulièrement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980944"/>
            <a:ext cx="1143000" cy="420624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54096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 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54096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Vous vous étirez, même brièvement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11296"/>
            <a:ext cx="1143000" cy="420624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584448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 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584448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Vous vous hydratez suffisamment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041648"/>
            <a:ext cx="1143000" cy="420624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 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114800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 i="0">
                <a:solidFill>
                  <a:srgbClr val="2F2F2F"/>
                </a:solidFill>
                <a:latin typeface="Arial"/>
              </a:rPr>
              <a:t>Vous disposez d'un vrai espace de repos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754880"/>
            <a:ext cx="10545775" cy="6858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754880"/>
            <a:ext cx="64008" cy="685800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010912"/>
            <a:ext cx="10033711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61C5D3"/>
                </a:solidFill>
                <a:latin typeface="Arial"/>
              </a:rPr>
              <a:t>Votre Paille : de 0 à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623560"/>
            <a:ext cx="10545775" cy="91440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623560"/>
            <a:ext cx="64008" cy="914400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5879592"/>
            <a:ext cx="10033711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1" i="0">
                <a:solidFill>
                  <a:srgbClr val="2F2F2F"/>
                </a:solidFill>
                <a:latin typeface="Arial"/>
              </a:rPr>
              <a:t>« Réellement », c'est-à-dire : vous l'avez fait hier.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2F2F2F"/>
                </a:solidFill>
                <a:latin typeface="Arial"/>
              </a:rPr>
              <a:t>Pas ce qui serait possible en théorie, ni ce qui est écrit quelque part.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0"/>
            <a:ext cx="3047923" cy="118872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0"/>
            <a:ext cx="3047923" cy="118872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1C5D3"/>
                </a:solidFill>
                <a:latin typeface="Arial"/>
              </a:rPr>
              <a:t>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Votre indicateur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BEBEC8"/>
                </a:solidFill>
                <a:latin typeface="Arial"/>
              </a:rPr>
              <a:t>Combien de temps avant que votre verre déborde 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80560"/>
            <a:ext cx="1737360" cy="457200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9028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500" b="1" i="0">
                <a:solidFill>
                  <a:srgbClr val="1C446B"/>
                </a:solidFill>
                <a:latin typeface="Arial"/>
              </a:rPr>
              <a:t>30 minutes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0033A0"/>
                </a:solidFill>
                <a:latin typeface="Arial"/>
              </a:rPr>
              <a:t>Calculez votre indicateur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2430703" cy="1874519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2430703" cy="82296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29968"/>
            <a:ext cx="202836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033A0"/>
                </a:solidFill>
                <a:latin typeface="Arial"/>
              </a:rPr>
              <a:t>Robinet × Bulle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D6E71"/>
                </a:solidFill>
                <a:latin typeface="Arial"/>
              </a:rPr>
              <a:t>le débit réel, environnement compris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154680"/>
            <a:ext cx="20283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2F2F2F"/>
                </a:solidFill>
                <a:latin typeface="Arial"/>
              </a:rPr>
              <a:t>6 × 1,5 =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7983" y="1783080"/>
            <a:ext cx="2430703" cy="1874519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7983" y="1783080"/>
            <a:ext cx="2430703" cy="82296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9151" y="2029968"/>
            <a:ext cx="202836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E15E32"/>
                </a:solidFill>
                <a:latin typeface="Arial"/>
              </a:rPr>
              <a:t>+ Orage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D6E71"/>
                </a:solidFill>
                <a:latin typeface="Arial"/>
              </a:rPr>
              <a:t>l'eau imprévue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9151" y="3154680"/>
            <a:ext cx="20283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2F2F2F"/>
                </a:solidFill>
                <a:latin typeface="Arial"/>
              </a:rPr>
              <a:t>+ 2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6" y="1783080"/>
            <a:ext cx="2430703" cy="1874519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6" y="1783080"/>
            <a:ext cx="2430703" cy="82296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4174" y="2029968"/>
            <a:ext cx="202836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61C5D3"/>
                </a:solidFill>
                <a:latin typeface="Arial"/>
              </a:rPr>
              <a:t>− Paille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D6E71"/>
                </a:solidFill>
                <a:latin typeface="Arial"/>
              </a:rPr>
              <a:t>ce que vous évacuez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4" y="3154680"/>
            <a:ext cx="20283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2F2F2F"/>
                </a:solidFill>
                <a:latin typeface="Arial"/>
              </a:rPr>
              <a:t>− 3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38029" y="1783080"/>
            <a:ext cx="2430703" cy="1874519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38029" y="1783080"/>
            <a:ext cx="2430703" cy="82296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9197" y="2029968"/>
            <a:ext cx="2028367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C446B"/>
                </a:solidFill>
                <a:latin typeface="Arial"/>
              </a:rPr>
              <a:t>= remplissage par heure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D6E71"/>
                </a:solidFill>
                <a:latin typeface="Arial"/>
              </a:rPr>
              <a:t>votre débit 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9197" y="3154680"/>
            <a:ext cx="20283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2F2F2F"/>
                </a:solidFill>
                <a:latin typeface="Arial"/>
              </a:rPr>
              <a:t>8 par heure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404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400" b="0" i="1">
                <a:solidFill>
                  <a:srgbClr val="6D6E71"/>
                </a:solidFill>
                <a:latin typeface="Arial"/>
              </a:rPr>
              <a:t>Exemple : Robinet 6 · Bulle × 1,5 · Orage + 2 · Paille − 3 · Verre 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43400"/>
            <a:ext cx="10545775" cy="1325880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343400"/>
            <a:ext cx="64008" cy="1325880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599432"/>
            <a:ext cx="10033711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900" b="1" i="0">
                <a:solidFill>
                  <a:srgbClr val="0033A0"/>
                </a:solidFill>
                <a:latin typeface="Arial"/>
              </a:rPr>
              <a:t>Capacité du verre ÷ remplissage par heure = votre temps avant débordement</a:t>
            </a:r>
          </a:p>
          <a:p>
            <a:pPr algn="l">
              <a:spcAft>
                <a:spcPts val="1100"/>
              </a:spcAft>
            </a:pPr>
            <a:r>
              <a:rPr sz="1700" b="0" i="0">
                <a:solidFill>
                  <a:srgbClr val="2F2F2F"/>
                </a:solidFill>
                <a:latin typeface="Arial"/>
              </a:rPr>
              <a:t>Dans l'exemple : 40 ÷ 8 = 5 heures avant débordement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0033A0"/>
                </a:solidFill>
                <a:latin typeface="Arial"/>
              </a:rPr>
              <a:t>Lisez votre résultat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3301898" cy="224028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3301898" cy="566928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79"/>
            <a:ext cx="27532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Plus de 8 heures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199"/>
            <a:ext cx="275325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2F2F2F"/>
                </a:solidFill>
                <a:latin typeface="Arial"/>
              </a:rPr>
              <a:t>Votre verre ne déborde pas sur une journée. La marge existe : il s'agit de la préserver.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4898" y="1874519"/>
            <a:ext cx="3301898" cy="224028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4898" y="1874519"/>
            <a:ext cx="3301898" cy="566928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9218" y="2011679"/>
            <a:ext cx="27532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Entre 4 et 8 heures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9218" y="2743199"/>
            <a:ext cx="275325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2F2F2F"/>
                </a:solidFill>
                <a:latin typeface="Arial"/>
              </a:rPr>
              <a:t>Votre verre déborde dans la journée. Tout se joue sur la paille et sur les aléas.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6836" y="1874519"/>
            <a:ext cx="3301898" cy="224028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6836" y="1874519"/>
            <a:ext cx="3301898" cy="566928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1156" y="2011679"/>
            <a:ext cx="27532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Moins de 4 heures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1156" y="2743199"/>
            <a:ext cx="2753258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2F2F2F"/>
                </a:solidFill>
                <a:latin typeface="Arial"/>
              </a:rPr>
              <a:t>Votre verre déborde avant la pause déjeuner. La situation mérite qu'on s'y attarde sérieusement.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480559"/>
            <a:ext cx="10545775" cy="135280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480559"/>
            <a:ext cx="64008" cy="135280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736591"/>
            <a:ext cx="10033711" cy="840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2F2F2F"/>
                </a:solidFill>
                <a:latin typeface="Arial"/>
              </a:rPr>
              <a:t>Ce n'est pas une vérité absolue. C'est une approximation utile.</a:t>
            </a:r>
          </a:p>
          <a:p>
            <a:pPr algn="l">
              <a:spcAft>
                <a:spcPts val="1100"/>
              </a:spcAft>
            </a:pPr>
            <a:r>
              <a:rPr sz="1700" b="0" i="0">
                <a:solidFill>
                  <a:srgbClr val="2F2F2F"/>
                </a:solidFill>
                <a:latin typeface="Arial"/>
              </a:rPr>
              <a:t>Suffisamment juste pour orienter l'action — et c'est tout ce qu'on lui demande.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280160" cy="73152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3400" b="1" i="0">
                <a:solidFill>
                  <a:srgbClr val="0033A0"/>
                </a:solidFill>
                <a:latin typeface="Arial"/>
              </a:rPr>
              <a:t>Quel élément a fait le plus bouger votre indicateur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5457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F2F2F"/>
                </a:solidFill>
                <a:latin typeface="Arial"/>
              </a:rPr>
              <a:t>Le robinet ? La bulle ? Les aléas ? L'absence de paille ?</a:t>
            </a:r>
          </a:p>
          <a:p>
            <a:pPr algn="l">
              <a:spcAft>
                <a:spcPts val="1200"/>
              </a:spcAft>
            </a:pPr>
            <a:r>
              <a:rPr sz="1900" b="0" i="0">
                <a:solidFill>
                  <a:srgbClr val="2F2F2F"/>
                </a:solidFill>
                <a:latin typeface="Arial"/>
              </a:rPr>
              <a:t>C'est là que se trouve votre premier levier.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0"/>
            <a:ext cx="3047923" cy="118872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0"/>
            <a:ext cx="3047923" cy="118872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1C5D3"/>
                </a:solidFill>
                <a:latin typeface="Arial"/>
              </a:rPr>
              <a:t>PHASE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Passer à l'action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BEBEC8"/>
                </a:solidFill>
                <a:latin typeface="Arial"/>
              </a:rPr>
              <a:t>Pause active, généralisation, leviers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80560"/>
            <a:ext cx="1737360" cy="457200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9028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500" b="1" i="0">
                <a:solidFill>
                  <a:srgbClr val="1C446B"/>
                </a:solidFill>
                <a:latin typeface="Arial"/>
              </a:rPr>
              <a:t>45 minutes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0033A0"/>
                </a:solidFill>
                <a:latin typeface="Arial"/>
              </a:rPr>
              <a:t>Pause active : la paille en 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1">
                <a:solidFill>
                  <a:srgbClr val="6D6E71"/>
                </a:solidFill>
                <a:latin typeface="Arial"/>
              </a:rPr>
              <a:t>Cinq minutes, tout le monde debout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4577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Se lever et marcher un peu — la station assise prolongée est une contrainte, pas un repos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Mobiliser la nuque et les épaules, lentement, sans forcer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Étirer le dos et les poignets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Boire un verre d'eau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355846"/>
            <a:ext cx="10545775" cy="163347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355846"/>
            <a:ext cx="64008" cy="163347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611878"/>
            <a:ext cx="10033711" cy="11214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2F2F2F"/>
                </a:solidFill>
                <a:latin typeface="Arial"/>
              </a:rPr>
              <a:t>Vous venez d'activer votre paille.</a:t>
            </a:r>
          </a:p>
          <a:p>
            <a:pPr algn="l">
              <a:spcAft>
                <a:spcPts val="1100"/>
              </a:spcAft>
            </a:pPr>
            <a:r>
              <a:rPr sz="1700" b="0" i="0">
                <a:solidFill>
                  <a:srgbClr val="2F2F2F"/>
                </a:solidFill>
                <a:latin typeface="Arial"/>
              </a:rPr>
              <a:t>Cinq minutes sur quatre heures. Posez-vous la question : combien de fois l'avez-vous fait hier au travail 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0033A0"/>
                </a:solidFill>
                <a:latin typeface="Arial"/>
              </a:rPr>
              <a:t>Ce modèle marche partout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 i="1">
                <a:solidFill>
                  <a:srgbClr val="6D6E71"/>
                </a:solidFill>
                <a:latin typeface="Arial"/>
              </a:rPr>
              <a:t>Ce qui change d'un poste à l'autre, ce ne sont pas les éléments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4577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Les cinq éléments sont toujours les mêmes, quel que soit le métier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Ce qui change, c'est quel facteur ajoute le plus d'eau dans le verre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Certains facteurs se retrouvent partout, d'autres sont spécifiques à votre travail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355846"/>
            <a:ext cx="10545775" cy="163347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355846"/>
            <a:ext cx="64008" cy="163347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611878"/>
            <a:ext cx="10033711" cy="11214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2F2F2F"/>
                </a:solidFill>
                <a:latin typeface="Arial"/>
              </a:rPr>
              <a:t>Vous pouvez refaire cette analyse sur n'importe quelle tâche.</a:t>
            </a:r>
          </a:p>
          <a:p>
            <a:pPr algn="l">
              <a:spcAft>
                <a:spcPts val="1100"/>
              </a:spcAft>
            </a:pPr>
            <a:r>
              <a:rPr sz="1700" b="0" i="0">
                <a:solidFill>
                  <a:srgbClr val="2F2F2F"/>
                </a:solidFill>
                <a:latin typeface="Arial"/>
              </a:rPr>
              <a:t>Sur un poste que vous occupez, sur un poste que vous encadrez, ou sur un poste que vous concevez.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0033A0"/>
                </a:solidFill>
                <a:latin typeface="Arial"/>
              </a:rPr>
              <a:t>Deux familles de leviers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5044287" cy="357632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5044287" cy="566928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Ce que vous pouvez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495647" cy="247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300" b="0" i="0">
                <a:solidFill>
                  <a:srgbClr val="2F2F2F"/>
                </a:solidFill>
                <a:latin typeface="Arial"/>
              </a:rPr>
              <a:t>Activer la paille plus souvent : pauses actives, étirements ciblés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300" b="0" i="0">
                <a:solidFill>
                  <a:srgbClr val="2F2F2F"/>
                </a:solidFill>
                <a:latin typeface="Arial"/>
              </a:rPr>
              <a:t>Adapter votre posture sur la tâche de référence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300" b="0" i="0">
                <a:solidFill>
                  <a:srgbClr val="2F2F2F"/>
                </a:solidFill>
                <a:latin typeface="Arial"/>
              </a:rPr>
              <a:t>Signaler votre niveau à votre encadrant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300" b="0" i="0">
                <a:solidFill>
                  <a:srgbClr val="2F2F2F"/>
                </a:solidFill>
                <a:latin typeface="Arial"/>
              </a:rPr>
              <a:t>Soigner votre sommeil et votre alimentation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300" b="0" i="0">
                <a:solidFill>
                  <a:srgbClr val="2F2F2F"/>
                </a:solidFill>
                <a:latin typeface="Arial"/>
              </a:rPr>
              <a:t>Maintenir une activité physique hors travail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828800"/>
            <a:ext cx="5044287" cy="357632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4447" y="1828800"/>
            <a:ext cx="5044287" cy="566928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965960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Ce qui relève de l'organisation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8767" y="2697480"/>
            <a:ext cx="4495647" cy="247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300" b="0" i="0">
                <a:solidFill>
                  <a:srgbClr val="2F2F2F"/>
                </a:solidFill>
                <a:latin typeface="Arial"/>
              </a:rPr>
              <a:t>Adapter l'environnement : éclairage, bruit, température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300" b="0" i="0">
                <a:solidFill>
                  <a:srgbClr val="2F2F2F"/>
                </a:solidFill>
                <a:latin typeface="Arial"/>
              </a:rPr>
              <a:t>Revoir les plannings pour réduire la pression temporelle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300" b="0" i="0">
                <a:solidFill>
                  <a:srgbClr val="2F2F2F"/>
                </a:solidFill>
                <a:latin typeface="Arial"/>
              </a:rPr>
              <a:t>Formaliser des pauses dans l'organisation du travail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300" b="0" i="0">
                <a:solidFill>
                  <a:srgbClr val="2F2F2F"/>
                </a:solidFill>
                <a:latin typeface="Arial"/>
              </a:rPr>
              <a:t>Prévenir les aléas par de la maintenance préventive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300" b="0" i="0">
                <a:solidFill>
                  <a:srgbClr val="2F2F2F"/>
                </a:solidFill>
                <a:latin typeface="Arial"/>
              </a:rPr>
              <a:t>Former l'encadrement à repérer les signaux de surcharge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33720"/>
            <a:ext cx="10545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700" b="1" i="0">
                <a:solidFill>
                  <a:srgbClr val="0033A0"/>
                </a:solidFill>
                <a:latin typeface="Arial"/>
              </a:rPr>
              <a:t>Les deux colonnes sont légitimes. Aucune ne remplace l'autre.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0"/>
            <a:ext cx="3047923" cy="118872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0"/>
            <a:ext cx="3047923" cy="118872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1C5D3"/>
                </a:solidFill>
                <a:latin typeface="Arial"/>
              </a:rPr>
              <a:t>PHASE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Engagement et clôture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BEBEC8"/>
                </a:solidFill>
                <a:latin typeface="Arial"/>
              </a:rPr>
              <a:t>Chacun repart avec une action précise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480560"/>
            <a:ext cx="1737360" cy="457200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9028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1500" b="1" i="0">
                <a:solidFill>
                  <a:srgbClr val="1C446B"/>
                </a:solidFill>
                <a:latin typeface="Arial"/>
              </a:rPr>
              <a:t>20 minutes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>
                <a:solidFill>
                  <a:srgbClr val="0033A0"/>
                </a:solidFill>
                <a:latin typeface="Arial"/>
              </a:rPr>
              <a:t>Quel levier allez-vous appliquer dès demain 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10545775" cy="94894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64008" cy="94894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856232"/>
            <a:ext cx="10033711" cy="436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2F2F2F"/>
                </a:solidFill>
                <a:latin typeface="Arial"/>
              </a:rPr>
              <a:t>Un seul. Sur votre tâche de référence. Écrivez-le sur votre fiche.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60624"/>
            <a:ext cx="5044287" cy="304038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960624"/>
            <a:ext cx="5044287" cy="566928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97784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Ce n'est pas un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29304"/>
            <a:ext cx="4495647" cy="194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500" b="0" i="0">
                <a:solidFill>
                  <a:srgbClr val="2F2F2F"/>
                </a:solidFill>
                <a:latin typeface="Arial"/>
              </a:rPr>
              <a:t>« Je vais mieux prendre mes pauses »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500" b="0" i="0">
                <a:solidFill>
                  <a:srgbClr val="2F2F2F"/>
                </a:solidFill>
                <a:latin typeface="Arial"/>
              </a:rPr>
              <a:t>« Je vais faire attention à mon dos »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500" b="0" i="0">
                <a:solidFill>
                  <a:srgbClr val="2F2F2F"/>
                </a:solidFill>
                <a:latin typeface="Arial"/>
              </a:rPr>
              <a:t>« Je vais essayer de moins stresser 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4447" y="2960624"/>
            <a:ext cx="5044287" cy="304038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4447" y="2960624"/>
            <a:ext cx="5044287" cy="566928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8767" y="3097784"/>
            <a:ext cx="4495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Ça, c'en est 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8767" y="3829304"/>
            <a:ext cx="4495647" cy="194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500" b="0" i="0">
                <a:solidFill>
                  <a:srgbClr val="2F2F2F"/>
                </a:solidFill>
                <a:latin typeface="Arial"/>
              </a:rPr>
              <a:t>« Je m'étire les épaules 5 minutes après chaque opération de montage »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500" b="0" i="0">
                <a:solidFill>
                  <a:srgbClr val="2F2F2F"/>
                </a:solidFill>
                <a:latin typeface="Arial"/>
              </a:rPr>
              <a:t>« Je règle la hauteur de mon écran demain matin »</a:t>
            </a:r>
          </a:p>
          <a:p>
            <a:pPr algn="l" marL="256032" indent="-256032">
              <a:spcAft>
                <a:spcPts val="1200"/>
              </a:spcAft>
              <a:buClr>
                <a:srgbClr val="0033A0"/>
              </a:buClr>
              <a:buFont typeface="Arial"/>
              <a:buChar char="•"/>
            </a:pPr>
            <a:r>
              <a:rPr sz="1500" b="0" i="0">
                <a:solidFill>
                  <a:srgbClr val="2F2F2F"/>
                </a:solidFill>
                <a:latin typeface="Arial"/>
              </a:rPr>
              <a:t>« Je coupe les notifications pendant les phases de précision »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0"/>
            <a:ext cx="3047923" cy="118872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0"/>
            <a:ext cx="3047923" cy="118872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On a regardé ensemble tout ce qui agit sur vous au travail.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Une partie de tout ça, vous n'en avez pas la maîtrise : la charge, l'environnement, les imprévus. C'est inhérent à votre métier.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Mais il y a une chose que personne ne pourra jamais vous enlever : la façon dont vous gérez votre corps.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On fait des choix tous les jours. Sur notre sommeil, notre alimentation, nos pauses, nos postures.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Chaque choix compte. Ce sont des gouttes en moins dans le verre.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4000" b="1" i="0">
                <a:solidFill>
                  <a:srgbClr val="61C5D3"/>
                </a:solidFill>
                <a:latin typeface="Arial"/>
              </a:rPr>
              <a:t>Prenez soin de vous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118872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6" y="0"/>
            <a:ext cx="3047923" cy="118872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69" y="0"/>
            <a:ext cx="3047923" cy="118872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1C5D3"/>
                </a:solidFill>
                <a:latin typeface="Arial"/>
              </a:rPr>
              <a:t>ANNEXES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À imprimer avant la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457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900" b="0" i="0">
                <a:solidFill>
                  <a:srgbClr val="BEBEC8"/>
                </a:solidFill>
                <a:latin typeface="Arial"/>
              </a:rPr>
              <a:t>Fiche participant recto-verso, minutage, sources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033A0"/>
                </a:solidFill>
                <a:latin typeface="Arial"/>
              </a:rPr>
              <a:t>Fiche participant — recto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0700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 i="1">
                <a:solidFill>
                  <a:srgbClr val="6D6E71"/>
                </a:solidFill>
                <a:latin typeface="Arial"/>
              </a:rPr>
              <a:t>Ma tâche de référence, mon Verre et mon Robinet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5090007" cy="1290674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5090007" cy="32918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9344"/>
            <a:ext cx="47608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Ma tâche de référence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938528"/>
            <a:ext cx="476082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D6E71"/>
                </a:solidFill>
                <a:latin typeface="Arial"/>
              </a:rPr>
              <a:t>Une tâche concrète, pas un objectif de travail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" y="2402586"/>
            <a:ext cx="4760823" cy="109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7552" y="2715310"/>
            <a:ext cx="4760823" cy="109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028034"/>
            <a:ext cx="5090007" cy="219775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028034"/>
            <a:ext cx="5090007" cy="329184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082898"/>
            <a:ext cx="47608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Le Verre — ma capacité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412082"/>
            <a:ext cx="476082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D6E71"/>
                </a:solidFill>
                <a:latin typeface="Arial"/>
              </a:rPr>
              <a:t>Je pars de 30 et j'ajoute 5 par réponse favorable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693260"/>
            <a:ext cx="3947007" cy="277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Moins de 45 ans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6855" y="3674972"/>
            <a:ext cx="731520" cy="216822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971237"/>
            <a:ext cx="3947007" cy="277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Aucune douleur liée au travail depuis 2 ans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6855" y="3952949"/>
            <a:ext cx="731520" cy="216822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249214"/>
            <a:ext cx="3947007" cy="277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Activité physique régulière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16855" y="4230926"/>
            <a:ext cx="731520" cy="216822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527191"/>
            <a:ext cx="3947007" cy="277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Sommeil et alimentation satisfaisants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16855" y="4508903"/>
            <a:ext cx="731520" cy="216822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869176"/>
            <a:ext cx="39470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00" b="1" i="0">
                <a:solidFill>
                  <a:srgbClr val="6D6E71"/>
                </a:solidFill>
                <a:latin typeface="Arial"/>
              </a:rPr>
              <a:t>Capacité de mon verre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6855" y="4832600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8727" y="1554480"/>
            <a:ext cx="5090007" cy="2475735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8727" y="1554480"/>
            <a:ext cx="5090007" cy="32918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3319" y="1609344"/>
            <a:ext cx="47608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Le Robinet — mon débit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1938528"/>
            <a:ext cx="476082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D6E71"/>
                </a:solidFill>
                <a:latin typeface="Arial"/>
              </a:rPr>
              <a:t>Je note chaque composante de 0 à 10, puis je fais la moyenne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3319" y="2219706"/>
            <a:ext cx="3947007" cy="277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Charge manipulée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72622" y="2201418"/>
            <a:ext cx="731520" cy="216822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3319" y="2497683"/>
            <a:ext cx="3947007" cy="277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Posture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72622" y="2479395"/>
            <a:ext cx="731520" cy="216822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3319" y="2775660"/>
            <a:ext cx="3947007" cy="277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Fréquence et durée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72622" y="2757372"/>
            <a:ext cx="731520" cy="216822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3319" y="3053637"/>
            <a:ext cx="3947007" cy="277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Demande cognitive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72622" y="3035349"/>
            <a:ext cx="731520" cy="216822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3319" y="3331614"/>
            <a:ext cx="3947007" cy="277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Pression psychosociale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72622" y="3313326"/>
            <a:ext cx="731520" cy="216822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3319" y="3673599"/>
            <a:ext cx="39470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00" b="1" i="0">
                <a:solidFill>
                  <a:srgbClr val="0033A0"/>
                </a:solidFill>
                <a:latin typeface="Arial"/>
              </a:rPr>
              <a:t>Moyenne — mon Robinet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72622" y="3637023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78727" y="4213095"/>
            <a:ext cx="5090007" cy="1916122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78727" y="4213095"/>
            <a:ext cx="5090007" cy="329184"/>
          </a:xfrm>
          <a:prstGeom prst="rect">
            <a:avLst/>
          </a:prstGeom>
          <a:solidFill>
            <a:srgbClr val="6D6E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3319" y="4267959"/>
            <a:ext cx="47608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Mes notes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3319" y="4597143"/>
            <a:ext cx="476082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D6E71"/>
                </a:solidFill>
                <a:latin typeface="Arial"/>
              </a:rPr>
              <a:t>Ce que je veux retenir, ce que je veux vérifier sur mon poste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3319" y="5061201"/>
            <a:ext cx="4760823" cy="109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43319" y="5373925"/>
            <a:ext cx="4760823" cy="109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43319" y="5686649"/>
            <a:ext cx="4760823" cy="109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43319" y="5999373"/>
            <a:ext cx="4760823" cy="109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0033A0"/>
                </a:solidFill>
                <a:latin typeface="Arial"/>
              </a:rPr>
              <a:t>Fiche participant — verso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07008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 i="1">
                <a:solidFill>
                  <a:srgbClr val="6D6E71"/>
                </a:solidFill>
                <a:latin typeface="Arial"/>
              </a:rPr>
              <a:t>Ma Bulle, mon Orage, ma Paille, mon indicateur et mon engagement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554480"/>
            <a:ext cx="3271418" cy="301294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3271418" cy="329184"/>
          </a:xfrm>
          <a:prstGeom prst="rect">
            <a:avLst/>
          </a:prstGeom>
          <a:solidFill>
            <a:srgbClr val="6E2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9344"/>
            <a:ext cx="294223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La Bulle — mon environnement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938528"/>
            <a:ext cx="2942234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D6E71"/>
                </a:solidFill>
                <a:latin typeface="Arial"/>
              </a:rPr>
              <a:t>Je coche les facteurs dégradés · × 1 si 0 ou 1 · × 1,5 si 2 ou 3 · × 2 si 4 ou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391156"/>
            <a:ext cx="21284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Température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98266" y="2372868"/>
            <a:ext cx="731520" cy="228234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683764"/>
            <a:ext cx="21284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Bruit ou vibrations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98266" y="2665476"/>
            <a:ext cx="731520" cy="228234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976372"/>
            <a:ext cx="21284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Éclairage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98266" y="2958084"/>
            <a:ext cx="731520" cy="228234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268980"/>
            <a:ext cx="21284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Espace de travail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98266" y="3250692"/>
            <a:ext cx="731520" cy="228234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561588"/>
            <a:ext cx="21284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Horaires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98266" y="3543300"/>
            <a:ext cx="731520" cy="228234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854196"/>
            <a:ext cx="21284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Matériel et équipements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98266" y="3835908"/>
            <a:ext cx="731520" cy="228234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210812"/>
            <a:ext cx="212841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00" b="1" i="0">
                <a:solidFill>
                  <a:srgbClr val="6E2466"/>
                </a:solidFill>
                <a:latin typeface="Arial"/>
              </a:rPr>
              <a:t>Mon multiplicateur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98266" y="4174236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60138" y="1554480"/>
            <a:ext cx="3271418" cy="1586484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60138" y="1554480"/>
            <a:ext cx="3271418" cy="329184"/>
          </a:xfrm>
          <a:prstGeom prst="rect">
            <a:avLst/>
          </a:prstGeom>
          <a:solidFill>
            <a:srgbClr val="E15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4730" y="1609344"/>
            <a:ext cx="294223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L'Orage — mes aléas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4730" y="1938528"/>
            <a:ext cx="2942234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D6E71"/>
                </a:solidFill>
                <a:latin typeface="Arial"/>
              </a:rPr>
              <a:t>+ 0 rares · + 1 un aléa régulier · + 2 plusieurs · + 3 quotidiens et urgents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24730" y="2574036"/>
            <a:ext cx="2942234" cy="109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4730" y="2784348"/>
            <a:ext cx="212841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00" b="1" i="0">
                <a:solidFill>
                  <a:srgbClr val="E15E32"/>
                </a:solidFill>
                <a:latin typeface="Arial"/>
              </a:rPr>
              <a:t>Mon Orage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35444" y="2747772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60138" y="3323844"/>
            <a:ext cx="3271418" cy="272034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0138" y="3323844"/>
            <a:ext cx="3271418" cy="329184"/>
          </a:xfrm>
          <a:prstGeom prst="rect">
            <a:avLst/>
          </a:prstGeom>
          <a:solidFill>
            <a:srgbClr val="61C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24730" y="3378708"/>
            <a:ext cx="294223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La Paille — ma récupération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4730" y="3707892"/>
            <a:ext cx="2942234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D6E71"/>
                </a:solidFill>
                <a:latin typeface="Arial"/>
              </a:rPr>
              <a:t>1 point par élément que j'ai réellement fait hier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4730" y="4160520"/>
            <a:ext cx="21284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Pause quand j'en ai eu besoin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35444" y="4142232"/>
            <a:ext cx="731520" cy="228234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24730" y="4453128"/>
            <a:ext cx="21284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Alternance de postures, marche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35444" y="4434840"/>
            <a:ext cx="731520" cy="228234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24730" y="4745736"/>
            <a:ext cx="21284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Étirements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35444" y="4727448"/>
            <a:ext cx="731520" cy="228234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24730" y="5038344"/>
            <a:ext cx="21284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Hydratation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35444" y="5020056"/>
            <a:ext cx="731520" cy="228234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24730" y="5330952"/>
            <a:ext cx="21284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Espace de repos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35444" y="5312664"/>
            <a:ext cx="731520" cy="228234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24730" y="5687568"/>
            <a:ext cx="212841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00" b="1" i="0">
                <a:solidFill>
                  <a:srgbClr val="61C5D3"/>
                </a:solidFill>
                <a:latin typeface="Arial"/>
              </a:rPr>
              <a:t>Ma Paille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35444" y="5650992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97316" y="1554480"/>
            <a:ext cx="3271418" cy="1549908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97316" y="1554480"/>
            <a:ext cx="3271418" cy="32918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61908" y="1609344"/>
            <a:ext cx="294223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Mon indicateur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61908" y="1938528"/>
            <a:ext cx="2942234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D6E71"/>
                </a:solidFill>
                <a:latin typeface="Arial"/>
              </a:rPr>
              <a:t>(Robinet × Bulle) + Orage − Paille, puis Capacité ÷ remplissage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61908" y="2391156"/>
            <a:ext cx="212841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150" b="0" i="0">
                <a:solidFill>
                  <a:srgbClr val="2F2F2F"/>
                </a:solidFill>
                <a:latin typeface="Arial"/>
              </a:rPr>
              <a:t>Mon remplissage par heure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2622" y="2372868"/>
            <a:ext cx="731520" cy="228234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61908" y="2747772"/>
            <a:ext cx="212841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00" b="1" i="0">
                <a:solidFill>
                  <a:srgbClr val="0033A0"/>
                </a:solidFill>
                <a:latin typeface="Arial"/>
              </a:rPr>
              <a:t>Mon temps avant débordement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72622" y="2711196"/>
            <a:ext cx="731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6D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97316" y="3287268"/>
            <a:ext cx="3271418" cy="1495044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97316" y="3287268"/>
            <a:ext cx="3271418" cy="32918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61908" y="3342132"/>
            <a:ext cx="294223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Mon engagement pour demain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61908" y="3671316"/>
            <a:ext cx="2942234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D6E71"/>
                </a:solidFill>
                <a:latin typeface="Arial"/>
              </a:rPr>
              <a:t>Une action précise : quoi, quand, combien de temps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61908" y="4306824"/>
            <a:ext cx="2942234" cy="109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61908" y="4636008"/>
            <a:ext cx="2942234" cy="109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0033A0"/>
                </a:solidFill>
                <a:latin typeface="Arial"/>
              </a:rPr>
              <a:t>Minutage de référence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 i="1">
                <a:solidFill>
                  <a:srgbClr val="6D6E71"/>
                </a:solidFill>
                <a:latin typeface="Arial"/>
              </a:rPr>
              <a:t>Durées indicatives, à adapter à la dynamique du groupe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10545775" cy="402336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1109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Phase 0 — Ouverture, données chiffrées, cadrage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8575" y="191109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100"/>
              </a:spcAft>
            </a:pPr>
            <a:r>
              <a:rPr sz="1400" b="1" i="0">
                <a:solidFill>
                  <a:srgbClr val="0033A0"/>
                </a:solidFill>
                <a:latin typeface="Arial"/>
              </a:rPr>
              <a:t>30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49424"/>
            <a:ext cx="1054577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31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Phase 1 — Fiche de route et tâche de référence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8575" y="23317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100"/>
              </a:spcAft>
            </a:pPr>
            <a:r>
              <a:rPr sz="1400" b="1" i="0">
                <a:solidFill>
                  <a:srgbClr val="0033A0"/>
                </a:solidFill>
                <a:latin typeface="Arial"/>
              </a:rPr>
              <a:t>15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70048"/>
            <a:ext cx="10545775" cy="402336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75234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Le Verre — amorce, notation, débrief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88575" y="27523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100"/>
              </a:spcAft>
            </a:pPr>
            <a:r>
              <a:rPr sz="1400" b="1" i="0">
                <a:solidFill>
                  <a:srgbClr val="0033A0"/>
                </a:solidFill>
                <a:latin typeface="Arial"/>
              </a:rPr>
              <a:t>15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090672"/>
            <a:ext cx="1054577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1729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Le Robinet — amorce, 100 points, notation, débrief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8575" y="31729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100"/>
              </a:spcAft>
            </a:pPr>
            <a:r>
              <a:rPr sz="1400" b="1" i="0">
                <a:solidFill>
                  <a:srgbClr val="0033A0"/>
                </a:solidFill>
                <a:latin typeface="Arial"/>
              </a:rPr>
              <a:t>40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511296"/>
            <a:ext cx="10545775" cy="402336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5935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La Bulle — amorce, notation, débrief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8575" y="35935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100"/>
              </a:spcAft>
            </a:pPr>
            <a:r>
              <a:rPr sz="1400" b="1" i="0">
                <a:solidFill>
                  <a:srgbClr val="0033A0"/>
                </a:solidFill>
                <a:latin typeface="Arial"/>
              </a:rPr>
              <a:t>20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31920"/>
            <a:ext cx="1054577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0142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L'Orage — prescrit / réel, notation, débrief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8575" y="40142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100"/>
              </a:spcAft>
            </a:pPr>
            <a:r>
              <a:rPr sz="1400" b="1" i="0">
                <a:solidFill>
                  <a:srgbClr val="0033A0"/>
                </a:solidFill>
                <a:latin typeface="Arial"/>
              </a:rPr>
              <a:t>25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352544"/>
            <a:ext cx="10545775" cy="402336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4348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La Paille — amorce, notation, débrief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8575" y="4434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100"/>
              </a:spcAft>
            </a:pPr>
            <a:r>
              <a:rPr sz="1400" b="1" i="0">
                <a:solidFill>
                  <a:srgbClr val="0033A0"/>
                </a:solidFill>
                <a:latin typeface="Arial"/>
              </a:rPr>
              <a:t>20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773168"/>
            <a:ext cx="1054577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85546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Phase 3 — Calcul et lecture de l'indicateur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88575" y="48554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100"/>
              </a:spcAft>
            </a:pPr>
            <a:r>
              <a:rPr sz="1400" b="1" i="0">
                <a:solidFill>
                  <a:srgbClr val="0033A0"/>
                </a:solidFill>
                <a:latin typeface="Arial"/>
              </a:rPr>
              <a:t>30 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193792"/>
            <a:ext cx="10545775" cy="402336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276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Phase 4 — Pause active, généralisation, leviers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88575" y="5276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100"/>
              </a:spcAft>
            </a:pPr>
            <a:r>
              <a:rPr sz="1400" b="1" i="0">
                <a:solidFill>
                  <a:srgbClr val="0033A0"/>
                </a:solidFill>
                <a:latin typeface="Arial"/>
              </a:rPr>
              <a:t>45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614416"/>
            <a:ext cx="10545775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6967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 i="0">
                <a:solidFill>
                  <a:srgbClr val="2F2F2F"/>
                </a:solidFill>
                <a:latin typeface="Arial"/>
              </a:rPr>
              <a:t>Phase 5 — Engagements et clôture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575" y="56967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100"/>
              </a:spcAft>
            </a:pPr>
            <a:r>
              <a:rPr sz="1400" b="1" i="0">
                <a:solidFill>
                  <a:srgbClr val="0033A0"/>
                </a:solidFill>
                <a:latin typeface="Arial"/>
              </a:rPr>
              <a:t>20 min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1887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9143772" cy="118872"/>
          </a:xfrm>
          <a:prstGeom prst="rect">
            <a:avLst/>
          </a:prstGeom>
          <a:solidFill>
            <a:srgbClr val="BEBE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>
                <a:solidFill>
                  <a:srgbClr val="0033A0"/>
                </a:solidFill>
                <a:latin typeface="Arial"/>
              </a:rPr>
              <a:t>LeVerre Labs  |  Sensibilisation au risque lié à l'activité physique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>
                <a:solidFill>
                  <a:srgbClr val="0033A0"/>
                </a:solidFill>
                <a:latin typeface="Arial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1054577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0033A0"/>
                </a:solidFill>
                <a:latin typeface="Arial"/>
              </a:rPr>
              <a:t>Sources et méthode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4577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Données AT/MP : Assurance Maladie — Risques professionnels, statistiques nationales 2024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Modèle du Verre et déroulé pédagogique : LeVerre Labs</a:t>
            </a:r>
          </a:p>
          <a:p>
            <a:pPr algn="l" marL="256032" indent="-256032">
              <a:spcAft>
                <a:spcPts val="1600"/>
              </a:spcAft>
              <a:buClr>
                <a:srgbClr val="0033A0"/>
              </a:buClr>
              <a:buFont typeface="Arial"/>
              <a:buChar char="•"/>
            </a:pPr>
            <a:r>
              <a:rPr sz="1700" b="0" i="0">
                <a:solidFill>
                  <a:srgbClr val="2F2F2F"/>
                </a:solidFill>
                <a:latin typeface="Arial"/>
              </a:rPr>
              <a:t>Charte graphique : palette et polices corporate publiques du CERN (design-guidelines.web.cern.ch)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355846"/>
            <a:ext cx="10545775" cy="1633474"/>
          </a:xfrm>
          <a:prstGeom prst="rect">
            <a:avLst/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355846"/>
            <a:ext cx="64008" cy="1633474"/>
          </a:xfrm>
          <a:prstGeom prst="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611878"/>
            <a:ext cx="10033711" cy="11214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2F2F2F"/>
                </a:solidFill>
                <a:latin typeface="Arial"/>
              </a:rPr>
              <a:t>Ce support est autonome : il ne nécessite ni connexion, ni smartphone, ni installation.</a:t>
            </a:r>
          </a:p>
          <a:p>
            <a:pPr algn="l">
              <a:spcAft>
                <a:spcPts val="1100"/>
              </a:spcAft>
            </a:pPr>
            <a:r>
              <a:rPr sz="1700" b="0" i="0">
                <a:solidFill>
                  <a:srgbClr val="2F2F2F"/>
                </a:solidFill>
                <a:latin typeface="Arial"/>
              </a:rPr>
              <a:t>L'application LeVerre Labs reste l'outil de référence lorsque les conditions techniques le permettent : elle calcule le même indicateur en direct.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